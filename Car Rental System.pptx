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1"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FCE3891-3377-4EAD-B024-FE1BA49CEA48}">
          <p14:sldIdLst>
            <p14:sldId id="256"/>
            <p14:sldId id="257"/>
            <p14:sldId id="258"/>
            <p14:sldId id="259"/>
            <p14:sldId id="260"/>
            <p14:sldId id="261"/>
            <p14:sldId id="262"/>
            <p14:sldId id="263"/>
            <p14:sldId id="264"/>
            <p14:sldId id="265"/>
            <p14:sldId id="266"/>
            <p14:sldId id="267"/>
            <p14:sldId id="268"/>
            <p14:sldId id="269"/>
            <p14:sldId id="270"/>
          </p14:sldIdLst>
        </p14:section>
        <p14:section name="Untitled Section" id="{F09982DE-C2B5-4035-AE25-5BF66F947CA4}">
          <p14:sldIdLst>
            <p14:sldId id="272"/>
            <p14:sldId id="273"/>
            <p14:sldId id="274"/>
            <p14:sldId id="271"/>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5910-B4EB-F86B-4004-F3C62BD1F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160214-8D18-B1FD-ABD6-EB4082F47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FC848B-04EC-D61F-9DF7-96CA80B04FE0}"/>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6D31AF6D-1AFD-72D6-6E03-5A1B68CE3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C2FB5-5835-BCE1-3888-55F20D9D6AA8}"/>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4240761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4D7D-1E36-701B-BF37-4E2B653CA9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94E8B9-C62C-3860-DFDC-94874D7B04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501A5C-CDB4-FAC0-485B-E2ECCA1DBBFC}"/>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5EB60B0A-BB7D-205B-18FE-F9FCBC4E8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BF9E04-4746-F149-B40C-D805C6890924}"/>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1500230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D41A9-5A00-4A85-C931-4D9D6781D0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5F1916-154F-DCF5-D0CA-102544EBA5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A279F5-DA21-3050-FCE4-C6475FD49245}"/>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F32A0344-6E04-85B8-54EB-0EC74DDC2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9C7599-6EB9-ABAA-689D-E403504DABBD}"/>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1907333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1406-E671-E3B8-CB7E-F44566CBF1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F01F8-CF1D-52F4-08B2-786CC554A2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FA5539-93FB-555E-53AC-A7D5AF169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14EFF3-E5B8-287D-28FE-62699034C2BE}"/>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6" name="Footer Placeholder 5">
            <a:extLst>
              <a:ext uri="{FF2B5EF4-FFF2-40B4-BE49-F238E27FC236}">
                <a16:creationId xmlns:a16="http://schemas.microsoft.com/office/drawing/2014/main" id="{ADD1B5E1-BF59-0FFE-8DA6-CDCB4C402B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9881DD-C3AC-3871-4C85-82067ABE4700}"/>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1468305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13F5-C3B3-47B2-0F31-A89E7E08F9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251D3F-D97C-B9CC-9F1C-EE22F946B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15108D-BBF0-4070-06F6-F99B34FCB3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8FBBFE-2117-238D-A667-A0A86F7F6B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0D37C-4624-4409-4DD7-0AA3ACA3F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D64ECA-6D4B-AB9C-F3CD-38F4622705E1}"/>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8" name="Footer Placeholder 7">
            <a:extLst>
              <a:ext uri="{FF2B5EF4-FFF2-40B4-BE49-F238E27FC236}">
                <a16:creationId xmlns:a16="http://schemas.microsoft.com/office/drawing/2014/main" id="{3BB7A438-D388-8F07-D6E8-E280E583CE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4D9C4B-7212-BB83-69AB-928A530B47A8}"/>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548189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523C-2D29-DD61-6F41-2DFF36511F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8F8DBD-42EF-7FF0-41E8-C1A5D33413B4}"/>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4" name="Footer Placeholder 3">
            <a:extLst>
              <a:ext uri="{FF2B5EF4-FFF2-40B4-BE49-F238E27FC236}">
                <a16:creationId xmlns:a16="http://schemas.microsoft.com/office/drawing/2014/main" id="{158A6D1A-B84E-D21D-76FD-77113872F9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3D281B-A632-F885-D6D3-60BE76548305}"/>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1192229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49037-AD5F-34FB-B65D-5DDE3468A008}"/>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3" name="Footer Placeholder 2">
            <a:extLst>
              <a:ext uri="{FF2B5EF4-FFF2-40B4-BE49-F238E27FC236}">
                <a16:creationId xmlns:a16="http://schemas.microsoft.com/office/drawing/2014/main" id="{717A34EE-7B0C-09AD-3EB9-1230DB3469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11BC63-6E63-3A21-486B-00238680D7E0}"/>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2191526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7829-9825-662E-7DB8-09FAE0DE56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E3FB51-DD7A-9EC3-1A84-82D62E660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045973-EF58-CED0-91ED-C0F7D20027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12CADF-AE21-5F76-C42A-997125DF0EBB}"/>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6" name="Footer Placeholder 5">
            <a:extLst>
              <a:ext uri="{FF2B5EF4-FFF2-40B4-BE49-F238E27FC236}">
                <a16:creationId xmlns:a16="http://schemas.microsoft.com/office/drawing/2014/main" id="{9E6120D3-9B67-0D53-B631-067EA3FA0D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FB21FA-E6DA-A655-73C5-3501F1E6D7C8}"/>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72600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B5FD3-40D5-3C5E-FF79-1589992FE0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552533-D7D0-6D8B-3893-449078659D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2898C4-F234-8BE4-7EE2-211347E76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330E8-4A00-A351-C6F8-69F43BA5C8B7}"/>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6" name="Footer Placeholder 5">
            <a:extLst>
              <a:ext uri="{FF2B5EF4-FFF2-40B4-BE49-F238E27FC236}">
                <a16:creationId xmlns:a16="http://schemas.microsoft.com/office/drawing/2014/main" id="{8928C393-E4D6-9E87-2C4E-0679EA1CDD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AEC00E-C888-234D-D34F-7DE932E655B5}"/>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177856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367B-FB5F-C3A6-A6A7-86B3BBD15F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41D395-24CC-8B0D-577F-DAF57FA9DA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A2244-A5BA-F4C1-D3FC-0BB027012090}"/>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E43920F9-35B9-6B13-597E-1B94C0A13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A1DA52-8902-155A-808E-2103F8D7693B}"/>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211330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612ED1-ABDC-47AD-CFF2-1F82B04CAE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B332B-2CAF-E6CF-07D5-F61A1A1D45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6F06C-28EF-CB03-EDB2-19A20C561280}"/>
              </a:ext>
            </a:extLst>
          </p:cNvPr>
          <p:cNvSpPr>
            <a:spLocks noGrp="1"/>
          </p:cNvSpPr>
          <p:nvPr>
            <p:ph type="dt" sz="half" idx="10"/>
          </p:nvPr>
        </p:nvSpPr>
        <p:spPr/>
        <p:txBody>
          <a:body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99D484DE-2E18-0D42-5916-DC13F9F9CE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42F1F-CA3B-DF73-9902-2D8795392065}"/>
              </a:ext>
            </a:extLst>
          </p:cNvPr>
          <p:cNvSpPr>
            <a:spLocks noGrp="1"/>
          </p:cNvSpPr>
          <p:nvPr>
            <p:ph type="sldNum" sz="quarter" idx="12"/>
          </p:nvPr>
        </p:nvSpPr>
        <p:spPr/>
        <p:txBody>
          <a:bodyPr/>
          <a:lstStyle/>
          <a:p>
            <a:fld id="{E8F02E73-AFBD-4918-A624-18B52ECBB5B0}" type="slidenum">
              <a:rPr lang="en-US" smtClean="0"/>
              <a:t>‹#›</a:t>
            </a:fld>
            <a:endParaRPr lang="en-US"/>
          </a:p>
        </p:txBody>
      </p:sp>
    </p:spTree>
    <p:extLst>
      <p:ext uri="{BB962C8B-B14F-4D97-AF65-F5344CB8AC3E}">
        <p14:creationId xmlns:p14="http://schemas.microsoft.com/office/powerpoint/2010/main" val="401026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6277D-30D7-D5F0-5D3F-968B0B00DF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402E6D-2C64-6F13-B136-7CFDAA109F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3AA12-6B15-69B8-6D64-127A6C550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526CFE-5112-49B1-B17F-A8399FE6D6D0}" type="datetimeFigureOut">
              <a:rPr lang="en-US" smtClean="0"/>
              <a:t>12/18/2025</a:t>
            </a:fld>
            <a:endParaRPr lang="en-US"/>
          </a:p>
        </p:txBody>
      </p:sp>
      <p:sp>
        <p:nvSpPr>
          <p:cNvPr id="5" name="Footer Placeholder 4">
            <a:extLst>
              <a:ext uri="{FF2B5EF4-FFF2-40B4-BE49-F238E27FC236}">
                <a16:creationId xmlns:a16="http://schemas.microsoft.com/office/drawing/2014/main" id="{903C31F1-CB27-DE0B-E29B-8B04CACA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D440A7-4ECD-FE93-5AA0-461BBFEAB6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F02E73-AFBD-4918-A624-18B52ECBB5B0}" type="slidenum">
              <a:rPr lang="en-US" smtClean="0"/>
              <a:t>‹#›</a:t>
            </a:fld>
            <a:endParaRPr lang="en-US"/>
          </a:p>
        </p:txBody>
      </p:sp>
    </p:spTree>
    <p:extLst>
      <p:ext uri="{BB962C8B-B14F-4D97-AF65-F5344CB8AC3E}">
        <p14:creationId xmlns:p14="http://schemas.microsoft.com/office/powerpoint/2010/main" val="1778704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2BD1C-5561-3D87-1806-904A23937FE7}"/>
              </a:ext>
            </a:extLst>
          </p:cNvPr>
          <p:cNvSpPr>
            <a:spLocks noGrp="1"/>
          </p:cNvSpPr>
          <p:nvPr>
            <p:ph type="ctrTitle"/>
          </p:nvPr>
        </p:nvSpPr>
        <p:spPr/>
        <p:txBody>
          <a:bodyPr/>
          <a:lstStyle/>
          <a:p>
            <a:r>
              <a:rPr lang="en-US" dirty="0"/>
              <a:t>Car Rental System</a:t>
            </a:r>
          </a:p>
        </p:txBody>
      </p:sp>
      <p:sp>
        <p:nvSpPr>
          <p:cNvPr id="3" name="Subtitle 2">
            <a:extLst>
              <a:ext uri="{FF2B5EF4-FFF2-40B4-BE49-F238E27FC236}">
                <a16:creationId xmlns:a16="http://schemas.microsoft.com/office/drawing/2014/main" id="{A768E941-98D8-BEEC-E823-26D2B0E73313}"/>
              </a:ext>
            </a:extLst>
          </p:cNvPr>
          <p:cNvSpPr>
            <a:spLocks noGrp="1"/>
          </p:cNvSpPr>
          <p:nvPr>
            <p:ph type="subTitle" idx="1"/>
          </p:nvPr>
        </p:nvSpPr>
        <p:spPr/>
        <p:txBody>
          <a:bodyPr/>
          <a:lstStyle/>
          <a:p>
            <a:r>
              <a:rPr lang="en-US" dirty="0"/>
              <a:t>Eyad Al-Moaid 22321363</a:t>
            </a:r>
          </a:p>
          <a:p>
            <a:r>
              <a:rPr lang="en-US" dirty="0"/>
              <a:t>Hasan Amer     22324331</a:t>
            </a:r>
          </a:p>
        </p:txBody>
      </p:sp>
    </p:spTree>
    <p:extLst>
      <p:ext uri="{BB962C8B-B14F-4D97-AF65-F5344CB8AC3E}">
        <p14:creationId xmlns:p14="http://schemas.microsoft.com/office/powerpoint/2010/main" val="835755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9495-CDD9-5ACE-6667-9EEDF87D8B79}"/>
              </a:ext>
            </a:extLst>
          </p:cNvPr>
          <p:cNvSpPr>
            <a:spLocks noGrp="1"/>
          </p:cNvSpPr>
          <p:nvPr>
            <p:ph type="title"/>
          </p:nvPr>
        </p:nvSpPr>
        <p:spPr/>
        <p:txBody>
          <a:bodyPr/>
          <a:lstStyle/>
          <a:p>
            <a:r>
              <a:rPr lang="en-US" dirty="0"/>
              <a:t>What is our project about?</a:t>
            </a:r>
          </a:p>
        </p:txBody>
      </p:sp>
      <p:sp>
        <p:nvSpPr>
          <p:cNvPr id="3" name="Content Placeholder 2">
            <a:extLst>
              <a:ext uri="{FF2B5EF4-FFF2-40B4-BE49-F238E27FC236}">
                <a16:creationId xmlns:a16="http://schemas.microsoft.com/office/drawing/2014/main" id="{98A40836-B430-AE72-36D0-2C50C42C855B}"/>
              </a:ext>
            </a:extLst>
          </p:cNvPr>
          <p:cNvSpPr>
            <a:spLocks noGrp="1"/>
          </p:cNvSpPr>
          <p:nvPr>
            <p:ph idx="1"/>
          </p:nvPr>
        </p:nvSpPr>
        <p:spPr>
          <a:xfrm>
            <a:off x="838200" y="2310257"/>
            <a:ext cx="10515600" cy="4351338"/>
          </a:xfrm>
        </p:spPr>
        <p:txBody>
          <a:bodyPr/>
          <a:lstStyle/>
          <a:p>
            <a:r>
              <a:rPr lang="en-US" dirty="0"/>
              <a:t>It’s a system that help the user check if a certain car is available for rent using local DB.</a:t>
            </a:r>
          </a:p>
          <a:p>
            <a:r>
              <a:rPr lang="en-US" dirty="0"/>
              <a:t>After checking the database the program sends the status of the chosen car to the user.</a:t>
            </a:r>
          </a:p>
        </p:txBody>
      </p:sp>
    </p:spTree>
    <p:extLst>
      <p:ext uri="{BB962C8B-B14F-4D97-AF65-F5344CB8AC3E}">
        <p14:creationId xmlns:p14="http://schemas.microsoft.com/office/powerpoint/2010/main" val="2864488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892A-2370-BB07-5F9B-8DB5ED55F0CD}"/>
              </a:ext>
            </a:extLst>
          </p:cNvPr>
          <p:cNvSpPr>
            <a:spLocks noGrp="1"/>
          </p:cNvSpPr>
          <p:nvPr>
            <p:ph type="title"/>
          </p:nvPr>
        </p:nvSpPr>
        <p:spPr/>
        <p:txBody>
          <a:bodyPr/>
          <a:lstStyle/>
          <a:p>
            <a:r>
              <a:rPr lang="en-US" dirty="0"/>
              <a:t>Homepage form</a:t>
            </a:r>
          </a:p>
        </p:txBody>
      </p:sp>
      <p:pic>
        <p:nvPicPr>
          <p:cNvPr id="5" name="Content Placeholder 4" descr="A group of cars in a parking lot&#10;&#10;AI-generated content may be incorrect.">
            <a:extLst>
              <a:ext uri="{FF2B5EF4-FFF2-40B4-BE49-F238E27FC236}">
                <a16:creationId xmlns:a16="http://schemas.microsoft.com/office/drawing/2014/main" id="{505051DE-3E84-AFE2-A34B-E98E2F8A2E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3165" y="1881393"/>
            <a:ext cx="7945670" cy="4351338"/>
          </a:xfrm>
        </p:spPr>
      </p:pic>
    </p:spTree>
    <p:extLst>
      <p:ext uri="{BB962C8B-B14F-4D97-AF65-F5344CB8AC3E}">
        <p14:creationId xmlns:p14="http://schemas.microsoft.com/office/powerpoint/2010/main" val="224413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9EA9-AF05-DF40-754A-75A174E942C1}"/>
              </a:ext>
            </a:extLst>
          </p:cNvPr>
          <p:cNvSpPr>
            <a:spLocks noGrp="1"/>
          </p:cNvSpPr>
          <p:nvPr>
            <p:ph type="title"/>
          </p:nvPr>
        </p:nvSpPr>
        <p:spPr/>
        <p:txBody>
          <a:bodyPr/>
          <a:lstStyle/>
          <a:p>
            <a:r>
              <a:rPr lang="en-US" dirty="0"/>
              <a:t>Cars form</a:t>
            </a:r>
          </a:p>
        </p:txBody>
      </p:sp>
      <p:pic>
        <p:nvPicPr>
          <p:cNvPr id="5" name="Content Placeholder 4" descr="A screenshot of a car&#10;&#10;AI-generated content may be incorrect.">
            <a:extLst>
              <a:ext uri="{FF2B5EF4-FFF2-40B4-BE49-F238E27FC236}">
                <a16:creationId xmlns:a16="http://schemas.microsoft.com/office/drawing/2014/main" id="{031C7D9D-0496-49D6-CACE-50C557136B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4925" y="2477085"/>
            <a:ext cx="9582150" cy="3771900"/>
          </a:xfrm>
        </p:spPr>
      </p:pic>
    </p:spTree>
    <p:extLst>
      <p:ext uri="{BB962C8B-B14F-4D97-AF65-F5344CB8AC3E}">
        <p14:creationId xmlns:p14="http://schemas.microsoft.com/office/powerpoint/2010/main" val="1987531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63A20-190C-1331-222F-73CA4F16CB68}"/>
              </a:ext>
            </a:extLst>
          </p:cNvPr>
          <p:cNvSpPr>
            <a:spLocks noGrp="1"/>
          </p:cNvSpPr>
          <p:nvPr>
            <p:ph type="title"/>
          </p:nvPr>
        </p:nvSpPr>
        <p:spPr/>
        <p:txBody>
          <a:bodyPr/>
          <a:lstStyle/>
          <a:p>
            <a:r>
              <a:rPr lang="en-US" dirty="0"/>
              <a:t>Period choosing and price display</a:t>
            </a:r>
          </a:p>
        </p:txBody>
      </p:sp>
      <p:pic>
        <p:nvPicPr>
          <p:cNvPr id="5" name="Content Placeholder 4" descr="A screenshot of a car&#10;&#10;AI-generated content may be incorrect.">
            <a:extLst>
              <a:ext uri="{FF2B5EF4-FFF2-40B4-BE49-F238E27FC236}">
                <a16:creationId xmlns:a16="http://schemas.microsoft.com/office/drawing/2014/main" id="{41ABB4CE-719A-BDEB-5C47-EEE702FBDB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2697" y="2617499"/>
            <a:ext cx="3171825" cy="2847975"/>
          </a:xfrm>
        </p:spPr>
      </p:pic>
      <p:pic>
        <p:nvPicPr>
          <p:cNvPr id="7" name="Picture 6" descr="A car on a white background&#10;&#10;AI-generated content may be incorrect.">
            <a:extLst>
              <a:ext uri="{FF2B5EF4-FFF2-40B4-BE49-F238E27FC236}">
                <a16:creationId xmlns:a16="http://schemas.microsoft.com/office/drawing/2014/main" id="{56094F75-822A-2D07-C0FD-E3F1135D5B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1846" y="2617499"/>
            <a:ext cx="3086100" cy="2438400"/>
          </a:xfrm>
          <a:prstGeom prst="rect">
            <a:avLst/>
          </a:prstGeom>
        </p:spPr>
      </p:pic>
    </p:spTree>
    <p:extLst>
      <p:ext uri="{BB962C8B-B14F-4D97-AF65-F5344CB8AC3E}">
        <p14:creationId xmlns:p14="http://schemas.microsoft.com/office/powerpoint/2010/main" val="38528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8B67-C60C-1801-3202-F61DE25A893E}"/>
              </a:ext>
            </a:extLst>
          </p:cNvPr>
          <p:cNvSpPr>
            <a:spLocks noGrp="1"/>
          </p:cNvSpPr>
          <p:nvPr>
            <p:ph type="title"/>
          </p:nvPr>
        </p:nvSpPr>
        <p:spPr/>
        <p:txBody>
          <a:bodyPr/>
          <a:lstStyle/>
          <a:p>
            <a:r>
              <a:rPr lang="en-US" dirty="0"/>
              <a:t>Car availability checking and program response</a:t>
            </a:r>
          </a:p>
        </p:txBody>
      </p:sp>
      <p:pic>
        <p:nvPicPr>
          <p:cNvPr id="5" name="Content Placeholder 4" descr="A screenshot of a car rental service&#10;&#10;AI-generated content may be incorrect.">
            <a:extLst>
              <a:ext uri="{FF2B5EF4-FFF2-40B4-BE49-F238E27FC236}">
                <a16:creationId xmlns:a16="http://schemas.microsoft.com/office/drawing/2014/main" id="{FA3884DE-1726-5960-98C7-71D07AC7C3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3277" y="2813495"/>
            <a:ext cx="3200400" cy="1752600"/>
          </a:xfrm>
        </p:spPr>
      </p:pic>
      <p:pic>
        <p:nvPicPr>
          <p:cNvPr id="7" name="Picture 6" descr="A screenshot of a message&#10;&#10;AI-generated content may be incorrect.">
            <a:extLst>
              <a:ext uri="{FF2B5EF4-FFF2-40B4-BE49-F238E27FC236}">
                <a16:creationId xmlns:a16="http://schemas.microsoft.com/office/drawing/2014/main" id="{4C1F3BCB-714A-09A5-3B1D-E016AAC9E3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9723" y="2813495"/>
            <a:ext cx="3429000" cy="1771650"/>
          </a:xfrm>
          <a:prstGeom prst="rect">
            <a:avLst/>
          </a:prstGeom>
        </p:spPr>
      </p:pic>
    </p:spTree>
    <p:extLst>
      <p:ext uri="{BB962C8B-B14F-4D97-AF65-F5344CB8AC3E}">
        <p14:creationId xmlns:p14="http://schemas.microsoft.com/office/powerpoint/2010/main" val="547953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F249-F356-0C09-28B9-99B04EC65BC2}"/>
              </a:ext>
            </a:extLst>
          </p:cNvPr>
          <p:cNvSpPr>
            <a:spLocks noGrp="1"/>
          </p:cNvSpPr>
          <p:nvPr>
            <p:ph type="title"/>
          </p:nvPr>
        </p:nvSpPr>
        <p:spPr/>
        <p:txBody>
          <a:bodyPr/>
          <a:lstStyle/>
          <a:p>
            <a:r>
              <a:rPr lang="en-US" dirty="0"/>
              <a:t>Design and layout : Form 1</a:t>
            </a:r>
          </a:p>
        </p:txBody>
      </p:sp>
      <p:pic>
        <p:nvPicPr>
          <p:cNvPr id="5" name="Content Placeholder 4" descr="A group of cars in a parking lot&#10;&#10;AI-generated content may be incorrect.">
            <a:extLst>
              <a:ext uri="{FF2B5EF4-FFF2-40B4-BE49-F238E27FC236}">
                <a16:creationId xmlns:a16="http://schemas.microsoft.com/office/drawing/2014/main" id="{8D5C9CCE-EBEA-1AAA-8556-BD8F2DCB09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3165" y="1825625"/>
            <a:ext cx="7945670" cy="4351338"/>
          </a:xfrm>
        </p:spPr>
      </p:pic>
      <p:cxnSp>
        <p:nvCxnSpPr>
          <p:cNvPr id="8" name="Straight Arrow Connector 7">
            <a:extLst>
              <a:ext uri="{FF2B5EF4-FFF2-40B4-BE49-F238E27FC236}">
                <a16:creationId xmlns:a16="http://schemas.microsoft.com/office/drawing/2014/main" id="{79AFC5CB-05CE-A015-0080-25CACF485B65}"/>
              </a:ext>
            </a:extLst>
          </p:cNvPr>
          <p:cNvCxnSpPr>
            <a:cxnSpLocks/>
          </p:cNvCxnSpPr>
          <p:nvPr/>
        </p:nvCxnSpPr>
        <p:spPr>
          <a:xfrm flipH="1">
            <a:off x="3587262" y="1591056"/>
            <a:ext cx="1478514" cy="609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DE3D864D-8DCA-B2E4-768A-68D85D083537}"/>
              </a:ext>
            </a:extLst>
          </p:cNvPr>
          <p:cNvCxnSpPr>
            <a:cxnSpLocks/>
          </p:cNvCxnSpPr>
          <p:nvPr/>
        </p:nvCxnSpPr>
        <p:spPr>
          <a:xfrm flipH="1">
            <a:off x="2935224" y="1591056"/>
            <a:ext cx="2130552" cy="10698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171DBB75-6150-31A1-095E-96682723D934}"/>
              </a:ext>
            </a:extLst>
          </p:cNvPr>
          <p:cNvCxnSpPr/>
          <p:nvPr/>
        </p:nvCxnSpPr>
        <p:spPr>
          <a:xfrm flipV="1">
            <a:off x="1874520" y="3867912"/>
            <a:ext cx="3429000" cy="640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8988675-1C84-D752-9EB1-3CD19107021A}"/>
              </a:ext>
            </a:extLst>
          </p:cNvPr>
          <p:cNvCxnSpPr/>
          <p:nvPr/>
        </p:nvCxnSpPr>
        <p:spPr>
          <a:xfrm flipH="1">
            <a:off x="9482328" y="2487168"/>
            <a:ext cx="1234440" cy="12435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43762BF-BEA2-5AB8-A268-968C1370E221}"/>
              </a:ext>
            </a:extLst>
          </p:cNvPr>
          <p:cNvCxnSpPr/>
          <p:nvPr/>
        </p:nvCxnSpPr>
        <p:spPr>
          <a:xfrm flipV="1">
            <a:off x="1746504" y="2276856"/>
            <a:ext cx="484632" cy="6766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E68C85F-5187-C54B-E187-937C75BECD2A}"/>
              </a:ext>
            </a:extLst>
          </p:cNvPr>
          <p:cNvSpPr txBox="1"/>
          <p:nvPr/>
        </p:nvSpPr>
        <p:spPr>
          <a:xfrm>
            <a:off x="1353312" y="2953512"/>
            <a:ext cx="678391" cy="369332"/>
          </a:xfrm>
          <a:prstGeom prst="rect">
            <a:avLst/>
          </a:prstGeom>
          <a:noFill/>
        </p:spPr>
        <p:txBody>
          <a:bodyPr wrap="none" rtlCol="0">
            <a:spAutoFit/>
          </a:bodyPr>
          <a:lstStyle/>
          <a:p>
            <a:r>
              <a:rPr lang="en-US" dirty="0"/>
              <a:t>label</a:t>
            </a:r>
          </a:p>
        </p:txBody>
      </p:sp>
      <p:sp>
        <p:nvSpPr>
          <p:cNvPr id="20" name="TextBox 19">
            <a:extLst>
              <a:ext uri="{FF2B5EF4-FFF2-40B4-BE49-F238E27FC236}">
                <a16:creationId xmlns:a16="http://schemas.microsoft.com/office/drawing/2014/main" id="{CC700C06-AFDC-12EA-7827-4506BA4AF11D}"/>
              </a:ext>
            </a:extLst>
          </p:cNvPr>
          <p:cNvSpPr txBox="1"/>
          <p:nvPr/>
        </p:nvSpPr>
        <p:spPr>
          <a:xfrm>
            <a:off x="5065776" y="1321356"/>
            <a:ext cx="857927" cy="369332"/>
          </a:xfrm>
          <a:prstGeom prst="rect">
            <a:avLst/>
          </a:prstGeom>
          <a:noFill/>
        </p:spPr>
        <p:txBody>
          <a:bodyPr wrap="none" rtlCol="0">
            <a:spAutoFit/>
          </a:bodyPr>
          <a:lstStyle/>
          <a:p>
            <a:r>
              <a:rPr lang="en-US" dirty="0"/>
              <a:t>panels</a:t>
            </a:r>
          </a:p>
        </p:txBody>
      </p:sp>
      <p:sp>
        <p:nvSpPr>
          <p:cNvPr id="21" name="TextBox 20">
            <a:extLst>
              <a:ext uri="{FF2B5EF4-FFF2-40B4-BE49-F238E27FC236}">
                <a16:creationId xmlns:a16="http://schemas.microsoft.com/office/drawing/2014/main" id="{935FF93F-3D64-3F1D-F7FF-6DAAF1FFDD24}"/>
              </a:ext>
            </a:extLst>
          </p:cNvPr>
          <p:cNvSpPr txBox="1"/>
          <p:nvPr/>
        </p:nvSpPr>
        <p:spPr>
          <a:xfrm>
            <a:off x="9701778" y="2167565"/>
            <a:ext cx="2029979" cy="369332"/>
          </a:xfrm>
          <a:prstGeom prst="rect">
            <a:avLst/>
          </a:prstGeom>
          <a:noFill/>
        </p:spPr>
        <p:txBody>
          <a:bodyPr wrap="none" rtlCol="0">
            <a:spAutoFit/>
          </a:bodyPr>
          <a:lstStyle/>
          <a:p>
            <a:r>
              <a:rPr lang="en-US" dirty="0"/>
              <a:t>Background image</a:t>
            </a:r>
          </a:p>
        </p:txBody>
      </p:sp>
      <p:sp>
        <p:nvSpPr>
          <p:cNvPr id="22" name="TextBox 21">
            <a:extLst>
              <a:ext uri="{FF2B5EF4-FFF2-40B4-BE49-F238E27FC236}">
                <a16:creationId xmlns:a16="http://schemas.microsoft.com/office/drawing/2014/main" id="{929831D7-072B-9530-96A7-BD0D06F2D325}"/>
              </a:ext>
            </a:extLst>
          </p:cNvPr>
          <p:cNvSpPr txBox="1"/>
          <p:nvPr/>
        </p:nvSpPr>
        <p:spPr>
          <a:xfrm>
            <a:off x="1028968" y="4323326"/>
            <a:ext cx="845552" cy="369332"/>
          </a:xfrm>
          <a:prstGeom prst="rect">
            <a:avLst/>
          </a:prstGeom>
          <a:noFill/>
        </p:spPr>
        <p:txBody>
          <a:bodyPr wrap="none" rtlCol="0">
            <a:spAutoFit/>
          </a:bodyPr>
          <a:lstStyle/>
          <a:p>
            <a:r>
              <a:rPr lang="en-US" dirty="0"/>
              <a:t>button</a:t>
            </a:r>
          </a:p>
        </p:txBody>
      </p:sp>
    </p:spTree>
    <p:extLst>
      <p:ext uri="{BB962C8B-B14F-4D97-AF65-F5344CB8AC3E}">
        <p14:creationId xmlns:p14="http://schemas.microsoft.com/office/powerpoint/2010/main" val="3752221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24EA9-B600-C15D-D79E-587EDBD33EE4}"/>
              </a:ext>
            </a:extLst>
          </p:cNvPr>
          <p:cNvSpPr>
            <a:spLocks noGrp="1"/>
          </p:cNvSpPr>
          <p:nvPr>
            <p:ph type="title"/>
          </p:nvPr>
        </p:nvSpPr>
        <p:spPr/>
        <p:txBody>
          <a:bodyPr/>
          <a:lstStyle/>
          <a:p>
            <a:r>
              <a:rPr lang="en-US" dirty="0"/>
              <a:t>Design and layout : Form 2</a:t>
            </a:r>
          </a:p>
        </p:txBody>
      </p:sp>
      <p:pic>
        <p:nvPicPr>
          <p:cNvPr id="9" name="Content Placeholder 8" descr="A car on a white background&#10;&#10;AI-generated content may be incorrect.">
            <a:extLst>
              <a:ext uri="{FF2B5EF4-FFF2-40B4-BE49-F238E27FC236}">
                <a16:creationId xmlns:a16="http://schemas.microsoft.com/office/drawing/2014/main" id="{08809A80-94D4-5568-A36C-A449AD83A7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07649" y="2380160"/>
            <a:ext cx="3086100" cy="2438400"/>
          </a:xfrm>
        </p:spPr>
      </p:pic>
      <p:cxnSp>
        <p:nvCxnSpPr>
          <p:cNvPr id="11" name="Straight Arrow Connector 10">
            <a:extLst>
              <a:ext uri="{FF2B5EF4-FFF2-40B4-BE49-F238E27FC236}">
                <a16:creationId xmlns:a16="http://schemas.microsoft.com/office/drawing/2014/main" id="{B820903D-E13C-4E85-94C0-32627C26F417}"/>
              </a:ext>
            </a:extLst>
          </p:cNvPr>
          <p:cNvCxnSpPr>
            <a:cxnSpLocks/>
          </p:cNvCxnSpPr>
          <p:nvPr/>
        </p:nvCxnSpPr>
        <p:spPr>
          <a:xfrm flipV="1">
            <a:off x="3118104" y="2491991"/>
            <a:ext cx="4599030" cy="1199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F973DE1-6631-8FCF-4518-4B15EFF68252}"/>
              </a:ext>
            </a:extLst>
          </p:cNvPr>
          <p:cNvCxnSpPr>
            <a:cxnSpLocks/>
          </p:cNvCxnSpPr>
          <p:nvPr/>
        </p:nvCxnSpPr>
        <p:spPr>
          <a:xfrm flipV="1">
            <a:off x="3118104" y="2770632"/>
            <a:ext cx="4489545" cy="10468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2930371-54FB-1770-2D8D-328F31EACF1E}"/>
              </a:ext>
            </a:extLst>
          </p:cNvPr>
          <p:cNvCxnSpPr>
            <a:cxnSpLocks/>
          </p:cNvCxnSpPr>
          <p:nvPr/>
        </p:nvCxnSpPr>
        <p:spPr>
          <a:xfrm flipV="1">
            <a:off x="3108960" y="2834640"/>
            <a:ext cx="5129784" cy="1005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1F638A5-7DC3-DDA3-3561-387FFCE46F90}"/>
              </a:ext>
            </a:extLst>
          </p:cNvPr>
          <p:cNvCxnSpPr>
            <a:cxnSpLocks/>
          </p:cNvCxnSpPr>
          <p:nvPr/>
        </p:nvCxnSpPr>
        <p:spPr>
          <a:xfrm flipV="1">
            <a:off x="3099816" y="2871216"/>
            <a:ext cx="5623560" cy="946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CEF0A48-E597-C4D0-06C8-EAAC1504913C}"/>
              </a:ext>
            </a:extLst>
          </p:cNvPr>
          <p:cNvCxnSpPr>
            <a:cxnSpLocks/>
          </p:cNvCxnSpPr>
          <p:nvPr/>
        </p:nvCxnSpPr>
        <p:spPr>
          <a:xfrm flipV="1">
            <a:off x="3099816" y="2770632"/>
            <a:ext cx="6620256" cy="10468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7E7714EE-22E6-E344-0431-987E344323A2}"/>
              </a:ext>
            </a:extLst>
          </p:cNvPr>
          <p:cNvCxnSpPr>
            <a:cxnSpLocks/>
          </p:cNvCxnSpPr>
          <p:nvPr/>
        </p:nvCxnSpPr>
        <p:spPr>
          <a:xfrm flipV="1">
            <a:off x="3099816" y="2871216"/>
            <a:ext cx="6912864" cy="946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4E352C8-DDE4-6168-5E69-4778D08B0398}"/>
              </a:ext>
            </a:extLst>
          </p:cNvPr>
          <p:cNvCxnSpPr>
            <a:cxnSpLocks/>
          </p:cNvCxnSpPr>
          <p:nvPr/>
        </p:nvCxnSpPr>
        <p:spPr>
          <a:xfrm>
            <a:off x="3118104" y="3817456"/>
            <a:ext cx="5605272" cy="2241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073B73F-3A89-FB72-8667-DA47FD729837}"/>
              </a:ext>
            </a:extLst>
          </p:cNvPr>
          <p:cNvCxnSpPr>
            <a:cxnSpLocks/>
          </p:cNvCxnSpPr>
          <p:nvPr/>
        </p:nvCxnSpPr>
        <p:spPr>
          <a:xfrm>
            <a:off x="3041301" y="3819472"/>
            <a:ext cx="6109398" cy="149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7F8CE6A-EBE7-B895-6CAD-D563BBE26500}"/>
              </a:ext>
            </a:extLst>
          </p:cNvPr>
          <p:cNvCxnSpPr>
            <a:cxnSpLocks/>
          </p:cNvCxnSpPr>
          <p:nvPr/>
        </p:nvCxnSpPr>
        <p:spPr>
          <a:xfrm>
            <a:off x="3041301" y="3819472"/>
            <a:ext cx="4675833" cy="35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C1EDACE-A95E-BCFD-90F7-5494499440E4}"/>
              </a:ext>
            </a:extLst>
          </p:cNvPr>
          <p:cNvCxnSpPr/>
          <p:nvPr/>
        </p:nvCxnSpPr>
        <p:spPr>
          <a:xfrm flipV="1">
            <a:off x="2834640" y="4425696"/>
            <a:ext cx="4882494" cy="146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DEC9650-6D58-50AE-5686-3BB425503C85}"/>
              </a:ext>
            </a:extLst>
          </p:cNvPr>
          <p:cNvCxnSpPr>
            <a:cxnSpLocks/>
          </p:cNvCxnSpPr>
          <p:nvPr/>
        </p:nvCxnSpPr>
        <p:spPr>
          <a:xfrm flipH="1">
            <a:off x="4103751" y="4334256"/>
            <a:ext cx="5835777" cy="975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03CBB02-67E5-7A94-1C3F-C924B1944D41}"/>
              </a:ext>
            </a:extLst>
          </p:cNvPr>
          <p:cNvSpPr txBox="1"/>
          <p:nvPr/>
        </p:nvSpPr>
        <p:spPr>
          <a:xfrm>
            <a:off x="1832765" y="2422308"/>
            <a:ext cx="1171667" cy="369332"/>
          </a:xfrm>
          <a:prstGeom prst="rect">
            <a:avLst/>
          </a:prstGeom>
          <a:noFill/>
        </p:spPr>
        <p:txBody>
          <a:bodyPr wrap="none" rtlCol="0">
            <a:spAutoFit/>
          </a:bodyPr>
          <a:lstStyle/>
          <a:p>
            <a:r>
              <a:rPr lang="en-US" dirty="0" err="1"/>
              <a:t>GroupBox</a:t>
            </a:r>
            <a:endParaRPr lang="en-US" dirty="0"/>
          </a:p>
        </p:txBody>
      </p:sp>
      <p:sp>
        <p:nvSpPr>
          <p:cNvPr id="45" name="TextBox 44">
            <a:extLst>
              <a:ext uri="{FF2B5EF4-FFF2-40B4-BE49-F238E27FC236}">
                <a16:creationId xmlns:a16="http://schemas.microsoft.com/office/drawing/2014/main" id="{5C2B3A6D-E49C-FF5E-E782-5ABAD3916B71}"/>
              </a:ext>
            </a:extLst>
          </p:cNvPr>
          <p:cNvSpPr txBox="1"/>
          <p:nvPr/>
        </p:nvSpPr>
        <p:spPr>
          <a:xfrm>
            <a:off x="2121408" y="3629808"/>
            <a:ext cx="849528" cy="369332"/>
          </a:xfrm>
          <a:prstGeom prst="rect">
            <a:avLst/>
          </a:prstGeom>
          <a:noFill/>
        </p:spPr>
        <p:txBody>
          <a:bodyPr wrap="none" rtlCol="0">
            <a:spAutoFit/>
          </a:bodyPr>
          <a:lstStyle/>
          <a:p>
            <a:r>
              <a:rPr lang="en-US" dirty="0"/>
              <a:t>Labels</a:t>
            </a:r>
          </a:p>
        </p:txBody>
      </p:sp>
      <p:sp>
        <p:nvSpPr>
          <p:cNvPr id="46" name="TextBox 45">
            <a:extLst>
              <a:ext uri="{FF2B5EF4-FFF2-40B4-BE49-F238E27FC236}">
                <a16:creationId xmlns:a16="http://schemas.microsoft.com/office/drawing/2014/main" id="{D6B7647C-F8FE-B137-7671-E23324B2B913}"/>
              </a:ext>
            </a:extLst>
          </p:cNvPr>
          <p:cNvSpPr txBox="1"/>
          <p:nvPr/>
        </p:nvSpPr>
        <p:spPr>
          <a:xfrm>
            <a:off x="1548285" y="4334256"/>
            <a:ext cx="1290225" cy="369332"/>
          </a:xfrm>
          <a:prstGeom prst="rect">
            <a:avLst/>
          </a:prstGeom>
          <a:noFill/>
        </p:spPr>
        <p:txBody>
          <a:bodyPr wrap="none" rtlCol="0">
            <a:spAutoFit/>
          </a:bodyPr>
          <a:lstStyle/>
          <a:p>
            <a:r>
              <a:rPr lang="en-US" dirty="0" err="1"/>
              <a:t>ComboBox</a:t>
            </a:r>
            <a:endParaRPr lang="en-US" dirty="0"/>
          </a:p>
        </p:txBody>
      </p:sp>
      <p:sp>
        <p:nvSpPr>
          <p:cNvPr id="47" name="TextBox 46">
            <a:extLst>
              <a:ext uri="{FF2B5EF4-FFF2-40B4-BE49-F238E27FC236}">
                <a16:creationId xmlns:a16="http://schemas.microsoft.com/office/drawing/2014/main" id="{1ADCAD54-63A0-702C-87C6-0290CE322C72}"/>
              </a:ext>
            </a:extLst>
          </p:cNvPr>
          <p:cNvSpPr txBox="1"/>
          <p:nvPr/>
        </p:nvSpPr>
        <p:spPr>
          <a:xfrm>
            <a:off x="3118104" y="5124950"/>
            <a:ext cx="855171" cy="369332"/>
          </a:xfrm>
          <a:prstGeom prst="rect">
            <a:avLst/>
          </a:prstGeom>
          <a:noFill/>
        </p:spPr>
        <p:txBody>
          <a:bodyPr wrap="none" rtlCol="0">
            <a:spAutoFit/>
          </a:bodyPr>
          <a:lstStyle/>
          <a:p>
            <a:r>
              <a:rPr lang="en-US" dirty="0"/>
              <a:t>Button</a:t>
            </a:r>
          </a:p>
        </p:txBody>
      </p:sp>
      <p:cxnSp>
        <p:nvCxnSpPr>
          <p:cNvPr id="49" name="Straight Arrow Connector 48">
            <a:extLst>
              <a:ext uri="{FF2B5EF4-FFF2-40B4-BE49-F238E27FC236}">
                <a16:creationId xmlns:a16="http://schemas.microsoft.com/office/drawing/2014/main" id="{CC842321-492A-8C84-4181-BDF108B361D9}"/>
              </a:ext>
            </a:extLst>
          </p:cNvPr>
          <p:cNvCxnSpPr/>
          <p:nvPr/>
        </p:nvCxnSpPr>
        <p:spPr>
          <a:xfrm>
            <a:off x="2633472" y="3319272"/>
            <a:ext cx="5458968"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B3BE47A-3B06-8DF8-02B0-126481666445}"/>
              </a:ext>
            </a:extLst>
          </p:cNvPr>
          <p:cNvSpPr txBox="1"/>
          <p:nvPr/>
        </p:nvSpPr>
        <p:spPr>
          <a:xfrm>
            <a:off x="1328597" y="3105806"/>
            <a:ext cx="1304716" cy="369332"/>
          </a:xfrm>
          <a:prstGeom prst="rect">
            <a:avLst/>
          </a:prstGeom>
          <a:noFill/>
        </p:spPr>
        <p:txBody>
          <a:bodyPr wrap="none" rtlCol="0">
            <a:spAutoFit/>
          </a:bodyPr>
          <a:lstStyle/>
          <a:p>
            <a:r>
              <a:rPr lang="en-US" dirty="0" err="1"/>
              <a:t>PictureBox</a:t>
            </a:r>
            <a:endParaRPr lang="en-US" dirty="0"/>
          </a:p>
        </p:txBody>
      </p:sp>
    </p:spTree>
    <p:extLst>
      <p:ext uri="{BB962C8B-B14F-4D97-AF65-F5344CB8AC3E}">
        <p14:creationId xmlns:p14="http://schemas.microsoft.com/office/powerpoint/2010/main" val="247281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EF79-44C6-886C-E684-02D687E33631}"/>
              </a:ext>
            </a:extLst>
          </p:cNvPr>
          <p:cNvSpPr>
            <a:spLocks noGrp="1"/>
          </p:cNvSpPr>
          <p:nvPr>
            <p:ph type="title"/>
          </p:nvPr>
        </p:nvSpPr>
        <p:spPr/>
        <p:txBody>
          <a:bodyPr/>
          <a:lstStyle/>
          <a:p>
            <a:r>
              <a:rPr lang="en-US" dirty="0"/>
              <a:t>Database query 1:</a:t>
            </a:r>
          </a:p>
        </p:txBody>
      </p:sp>
      <p:sp>
        <p:nvSpPr>
          <p:cNvPr id="3" name="Content Placeholder 2">
            <a:extLst>
              <a:ext uri="{FF2B5EF4-FFF2-40B4-BE49-F238E27FC236}">
                <a16:creationId xmlns:a16="http://schemas.microsoft.com/office/drawing/2014/main" id="{C47D0A1E-5F29-F967-9329-3216ECC61FC1}"/>
              </a:ext>
            </a:extLst>
          </p:cNvPr>
          <p:cNvSpPr>
            <a:spLocks noGrp="1"/>
          </p:cNvSpPr>
          <p:nvPr>
            <p:ph idx="1"/>
          </p:nvPr>
        </p:nvSpPr>
        <p:spPr/>
        <p:txBody>
          <a:bodyPr>
            <a:normAutofit fontScale="55000" lnSpcReduction="20000"/>
          </a:bodyPr>
          <a:lstStyle/>
          <a:p>
            <a:r>
              <a:rPr lang="en-US" dirty="0"/>
              <a:t>CREATE TABLE Cars</a:t>
            </a:r>
          </a:p>
          <a:p>
            <a:pPr marL="0" indent="0">
              <a:buNone/>
            </a:pPr>
            <a:r>
              <a:rPr lang="en-US" dirty="0"/>
              <a:t>(</a:t>
            </a:r>
          </a:p>
          <a:p>
            <a:pPr marL="0" indent="0">
              <a:buNone/>
            </a:pPr>
            <a:r>
              <a:rPr lang="en-US" dirty="0"/>
              <a:t>    </a:t>
            </a:r>
            <a:r>
              <a:rPr lang="en-US" dirty="0" err="1"/>
              <a:t>CarID</a:t>
            </a:r>
            <a:r>
              <a:rPr lang="en-US" dirty="0"/>
              <a:t> INT IDENTITY(1,1) PRIMARY KEY,</a:t>
            </a:r>
          </a:p>
          <a:p>
            <a:endParaRPr lang="en-US" dirty="0"/>
          </a:p>
          <a:p>
            <a:pPr marL="0" indent="0">
              <a:buNone/>
            </a:pPr>
            <a:r>
              <a:rPr lang="en-US" dirty="0"/>
              <a:t>    </a:t>
            </a:r>
            <a:r>
              <a:rPr lang="en-US" dirty="0" err="1"/>
              <a:t>CarName</a:t>
            </a:r>
            <a:r>
              <a:rPr lang="en-US" dirty="0"/>
              <a:t> NVARCHAR(50) NOT NULL,</a:t>
            </a:r>
          </a:p>
          <a:p>
            <a:pPr marL="0" indent="0">
              <a:buNone/>
            </a:pPr>
            <a:r>
              <a:rPr lang="en-US" dirty="0"/>
              <a:t>    Model NVARCHAR(50) NOT NULL,</a:t>
            </a:r>
          </a:p>
          <a:p>
            <a:pPr marL="0" indent="0">
              <a:buNone/>
            </a:pPr>
            <a:r>
              <a:rPr lang="en-US" dirty="0"/>
              <a:t>    </a:t>
            </a:r>
            <a:r>
              <a:rPr lang="en-US" dirty="0" err="1"/>
              <a:t>CarYear</a:t>
            </a:r>
            <a:r>
              <a:rPr lang="en-US" dirty="0"/>
              <a:t> INT NOT NULL,</a:t>
            </a:r>
          </a:p>
          <a:p>
            <a:endParaRPr lang="en-US" dirty="0"/>
          </a:p>
          <a:p>
            <a:pPr marL="0" indent="0">
              <a:buNone/>
            </a:pPr>
            <a:r>
              <a:rPr lang="en-US" dirty="0"/>
              <a:t>    </a:t>
            </a:r>
            <a:r>
              <a:rPr lang="en-US" dirty="0" err="1"/>
              <a:t>PricePerDay</a:t>
            </a:r>
            <a:r>
              <a:rPr lang="en-US" dirty="0"/>
              <a:t> DECIMAL(10,2) NOT NULL,</a:t>
            </a:r>
          </a:p>
          <a:p>
            <a:pPr marL="0" indent="0">
              <a:buNone/>
            </a:pPr>
            <a:r>
              <a:rPr lang="en-US" dirty="0"/>
              <a:t>    </a:t>
            </a:r>
            <a:r>
              <a:rPr lang="en-US" dirty="0" err="1"/>
              <a:t>PricePerWeek</a:t>
            </a:r>
            <a:r>
              <a:rPr lang="en-US" dirty="0"/>
              <a:t> DECIMAL(10,2) NOT NULL,</a:t>
            </a:r>
          </a:p>
          <a:p>
            <a:pPr marL="0" indent="0">
              <a:buNone/>
            </a:pPr>
            <a:r>
              <a:rPr lang="en-US" dirty="0"/>
              <a:t>    </a:t>
            </a:r>
            <a:r>
              <a:rPr lang="en-US" dirty="0" err="1"/>
              <a:t>PricePerMonth</a:t>
            </a:r>
            <a:r>
              <a:rPr lang="en-US" dirty="0"/>
              <a:t> DECIMAL(10,2) NOT NULL,</a:t>
            </a:r>
          </a:p>
          <a:p>
            <a:endParaRPr lang="en-US" dirty="0"/>
          </a:p>
          <a:p>
            <a:pPr marL="0" indent="0">
              <a:buNone/>
            </a:pPr>
            <a:r>
              <a:rPr lang="en-US" dirty="0"/>
              <a:t>    </a:t>
            </a:r>
            <a:r>
              <a:rPr lang="en-US" dirty="0" err="1"/>
              <a:t>IsAvailable</a:t>
            </a:r>
            <a:r>
              <a:rPr lang="en-US" dirty="0"/>
              <a:t> BIT NOT NULL</a:t>
            </a:r>
          </a:p>
          <a:p>
            <a:pPr marL="0" indent="0">
              <a:buNone/>
            </a:pPr>
            <a:r>
              <a:rPr lang="en-US" dirty="0"/>
              <a:t>);</a:t>
            </a:r>
          </a:p>
        </p:txBody>
      </p:sp>
    </p:spTree>
    <p:extLst>
      <p:ext uri="{BB962C8B-B14F-4D97-AF65-F5344CB8AC3E}">
        <p14:creationId xmlns:p14="http://schemas.microsoft.com/office/powerpoint/2010/main" val="2199704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CF42-AA78-D510-2215-2817B62F00B2}"/>
              </a:ext>
            </a:extLst>
          </p:cNvPr>
          <p:cNvSpPr>
            <a:spLocks noGrp="1"/>
          </p:cNvSpPr>
          <p:nvPr>
            <p:ph type="title"/>
          </p:nvPr>
        </p:nvSpPr>
        <p:spPr/>
        <p:txBody>
          <a:bodyPr/>
          <a:lstStyle/>
          <a:p>
            <a:r>
              <a:rPr lang="en-US" dirty="0"/>
              <a:t>Database query 2:</a:t>
            </a:r>
          </a:p>
        </p:txBody>
      </p:sp>
      <p:sp>
        <p:nvSpPr>
          <p:cNvPr id="3" name="Content Placeholder 2">
            <a:extLst>
              <a:ext uri="{FF2B5EF4-FFF2-40B4-BE49-F238E27FC236}">
                <a16:creationId xmlns:a16="http://schemas.microsoft.com/office/drawing/2014/main" id="{83F5F03F-7E80-055B-0F6D-10E0DCD394EB}"/>
              </a:ext>
            </a:extLst>
          </p:cNvPr>
          <p:cNvSpPr>
            <a:spLocks noGrp="1"/>
          </p:cNvSpPr>
          <p:nvPr>
            <p:ph idx="1"/>
          </p:nvPr>
        </p:nvSpPr>
        <p:spPr/>
        <p:txBody>
          <a:bodyPr>
            <a:normAutofit fontScale="77500" lnSpcReduction="20000"/>
          </a:bodyPr>
          <a:lstStyle/>
          <a:p>
            <a:r>
              <a:rPr lang="en-US" dirty="0"/>
              <a:t>INSERT INTO Cars</a:t>
            </a:r>
          </a:p>
          <a:p>
            <a:pPr marL="0" indent="0">
              <a:buNone/>
            </a:pPr>
            <a:r>
              <a:rPr lang="en-US" dirty="0"/>
              <a:t>(</a:t>
            </a:r>
            <a:r>
              <a:rPr lang="en-US" dirty="0" err="1"/>
              <a:t>CarName</a:t>
            </a:r>
            <a:r>
              <a:rPr lang="en-US" dirty="0"/>
              <a:t>, Model, </a:t>
            </a:r>
            <a:r>
              <a:rPr lang="en-US" dirty="0" err="1"/>
              <a:t>CarYear</a:t>
            </a:r>
            <a:r>
              <a:rPr lang="en-US" dirty="0"/>
              <a:t>, </a:t>
            </a:r>
            <a:r>
              <a:rPr lang="en-US" dirty="0" err="1"/>
              <a:t>PricePerDay</a:t>
            </a:r>
            <a:r>
              <a:rPr lang="en-US" dirty="0"/>
              <a:t>, </a:t>
            </a:r>
            <a:r>
              <a:rPr lang="en-US" dirty="0" err="1"/>
              <a:t>PricePerWeek</a:t>
            </a:r>
            <a:r>
              <a:rPr lang="en-US" dirty="0"/>
              <a:t>, </a:t>
            </a:r>
            <a:r>
              <a:rPr lang="en-US" dirty="0" err="1"/>
              <a:t>PricePerMonth</a:t>
            </a:r>
            <a:r>
              <a:rPr lang="en-US" dirty="0"/>
              <a:t>, </a:t>
            </a:r>
            <a:r>
              <a:rPr lang="en-US" dirty="0" err="1"/>
              <a:t>IsAvailable</a:t>
            </a:r>
            <a:r>
              <a:rPr lang="en-US" dirty="0"/>
              <a:t>)</a:t>
            </a:r>
          </a:p>
          <a:p>
            <a:pPr marL="0" indent="0">
              <a:buNone/>
            </a:pPr>
            <a:r>
              <a:rPr lang="en-US" dirty="0"/>
              <a:t>VALUES</a:t>
            </a:r>
          </a:p>
          <a:p>
            <a:pPr marL="0" indent="0">
              <a:buNone/>
            </a:pPr>
            <a:r>
              <a:rPr lang="en-US" dirty="0"/>
              <a:t>('Toyota', 'Corolla', 2021, 40, 250, 900, 1),</a:t>
            </a:r>
          </a:p>
          <a:p>
            <a:pPr marL="0" indent="0">
              <a:buNone/>
            </a:pPr>
            <a:r>
              <a:rPr lang="en-US" dirty="0"/>
              <a:t>('Honda', 'Civic', 2020, 45, 270, 950, 0),</a:t>
            </a:r>
          </a:p>
          <a:p>
            <a:pPr marL="0" indent="0">
              <a:buNone/>
            </a:pPr>
            <a:r>
              <a:rPr lang="en-US" dirty="0"/>
              <a:t>('BMW', 'X5', 2022, 90, 550, 1800, 1);</a:t>
            </a:r>
          </a:p>
          <a:p>
            <a:endParaRPr lang="en-US" dirty="0"/>
          </a:p>
          <a:p>
            <a:endParaRPr lang="en-US" dirty="0"/>
          </a:p>
          <a:p>
            <a:pPr marL="0" indent="0">
              <a:buNone/>
            </a:pPr>
            <a:r>
              <a:rPr lang="en-US" dirty="0"/>
              <a:t>SELECT </a:t>
            </a:r>
            <a:r>
              <a:rPr lang="en-US" dirty="0" err="1"/>
              <a:t>CarName</a:t>
            </a:r>
            <a:r>
              <a:rPr lang="en-US" dirty="0"/>
              <a:t>, Model, </a:t>
            </a:r>
            <a:r>
              <a:rPr lang="en-US" dirty="0" err="1"/>
              <a:t>CarYear</a:t>
            </a:r>
            <a:r>
              <a:rPr lang="en-US" dirty="0"/>
              <a:t>,</a:t>
            </a:r>
          </a:p>
          <a:p>
            <a:pPr marL="0" indent="0">
              <a:buNone/>
            </a:pPr>
            <a:r>
              <a:rPr lang="en-US" dirty="0"/>
              <a:t>       </a:t>
            </a:r>
            <a:r>
              <a:rPr lang="en-US" dirty="0" err="1"/>
              <a:t>PricePerDay</a:t>
            </a:r>
            <a:r>
              <a:rPr lang="en-US" dirty="0"/>
              <a:t>, </a:t>
            </a:r>
            <a:r>
              <a:rPr lang="en-US" dirty="0" err="1"/>
              <a:t>PricePerWeek</a:t>
            </a:r>
            <a:r>
              <a:rPr lang="en-US" dirty="0"/>
              <a:t>, </a:t>
            </a:r>
            <a:r>
              <a:rPr lang="en-US" dirty="0" err="1"/>
              <a:t>PricePerMonth</a:t>
            </a:r>
            <a:endParaRPr lang="en-US" dirty="0"/>
          </a:p>
          <a:p>
            <a:pPr marL="0" indent="0">
              <a:buNone/>
            </a:pPr>
            <a:r>
              <a:rPr lang="en-US" dirty="0"/>
              <a:t>FROM Cars</a:t>
            </a:r>
          </a:p>
        </p:txBody>
      </p:sp>
    </p:spTree>
    <p:extLst>
      <p:ext uri="{BB962C8B-B14F-4D97-AF65-F5344CB8AC3E}">
        <p14:creationId xmlns:p14="http://schemas.microsoft.com/office/powerpoint/2010/main" val="3503442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3569-E343-A337-1103-2A88AD78C7AB}"/>
              </a:ext>
            </a:extLst>
          </p:cNvPr>
          <p:cNvSpPr>
            <a:spLocks noGrp="1"/>
          </p:cNvSpPr>
          <p:nvPr>
            <p:ph type="title"/>
          </p:nvPr>
        </p:nvSpPr>
        <p:spPr/>
        <p:txBody>
          <a:bodyPr/>
          <a:lstStyle/>
          <a:p>
            <a:r>
              <a:rPr lang="en-US" dirty="0"/>
              <a:t>Database table </a:t>
            </a:r>
          </a:p>
        </p:txBody>
      </p:sp>
      <p:graphicFrame>
        <p:nvGraphicFramePr>
          <p:cNvPr id="4" name="Content Placeholder 3">
            <a:extLst>
              <a:ext uri="{FF2B5EF4-FFF2-40B4-BE49-F238E27FC236}">
                <a16:creationId xmlns:a16="http://schemas.microsoft.com/office/drawing/2014/main" id="{18055673-77EB-73CD-8066-981F8E1AE4EF}"/>
              </a:ext>
            </a:extLst>
          </p:cNvPr>
          <p:cNvGraphicFramePr>
            <a:graphicFrameLocks noGrp="1"/>
          </p:cNvGraphicFramePr>
          <p:nvPr>
            <p:ph idx="1"/>
            <p:extLst>
              <p:ext uri="{D42A27DB-BD31-4B8C-83A1-F6EECF244321}">
                <p14:modId xmlns:p14="http://schemas.microsoft.com/office/powerpoint/2010/main" val="2633570143"/>
              </p:ext>
            </p:extLst>
          </p:nvPr>
        </p:nvGraphicFramePr>
        <p:xfrm>
          <a:off x="838196" y="2840608"/>
          <a:ext cx="9779264" cy="2024000"/>
        </p:xfrm>
        <a:graphic>
          <a:graphicData uri="http://schemas.openxmlformats.org/drawingml/2006/table">
            <a:tbl>
              <a:tblPr firstRow="1" bandRow="1">
                <a:tableStyleId>{5C22544A-7EE6-4342-B048-85BDC9FD1C3A}</a:tableStyleId>
              </a:tblPr>
              <a:tblGrid>
                <a:gridCol w="1267143">
                  <a:extLst>
                    <a:ext uri="{9D8B030D-6E8A-4147-A177-3AD203B41FA5}">
                      <a16:colId xmlns:a16="http://schemas.microsoft.com/office/drawing/2014/main" val="1846517237"/>
                    </a:ext>
                  </a:extLst>
                </a:gridCol>
                <a:gridCol w="951294">
                  <a:extLst>
                    <a:ext uri="{9D8B030D-6E8A-4147-A177-3AD203B41FA5}">
                      <a16:colId xmlns:a16="http://schemas.microsoft.com/office/drawing/2014/main" val="963003314"/>
                    </a:ext>
                  </a:extLst>
                </a:gridCol>
                <a:gridCol w="1100392">
                  <a:extLst>
                    <a:ext uri="{9D8B030D-6E8A-4147-A177-3AD203B41FA5}">
                      <a16:colId xmlns:a16="http://schemas.microsoft.com/office/drawing/2014/main" val="2903392977"/>
                    </a:ext>
                  </a:extLst>
                </a:gridCol>
                <a:gridCol w="1503553">
                  <a:extLst>
                    <a:ext uri="{9D8B030D-6E8A-4147-A177-3AD203B41FA5}">
                      <a16:colId xmlns:a16="http://schemas.microsoft.com/office/drawing/2014/main" val="1546940044"/>
                    </a:ext>
                  </a:extLst>
                </a:gridCol>
                <a:gridCol w="1686052">
                  <a:extLst>
                    <a:ext uri="{9D8B030D-6E8A-4147-A177-3AD203B41FA5}">
                      <a16:colId xmlns:a16="http://schemas.microsoft.com/office/drawing/2014/main" val="1686953976"/>
                    </a:ext>
                  </a:extLst>
                </a:gridCol>
                <a:gridCol w="1768602">
                  <a:extLst>
                    <a:ext uri="{9D8B030D-6E8A-4147-A177-3AD203B41FA5}">
                      <a16:colId xmlns:a16="http://schemas.microsoft.com/office/drawing/2014/main" val="1455422902"/>
                    </a:ext>
                  </a:extLst>
                </a:gridCol>
                <a:gridCol w="1502228">
                  <a:extLst>
                    <a:ext uri="{9D8B030D-6E8A-4147-A177-3AD203B41FA5}">
                      <a16:colId xmlns:a16="http://schemas.microsoft.com/office/drawing/2014/main" val="4019683201"/>
                    </a:ext>
                  </a:extLst>
                </a:gridCol>
              </a:tblGrid>
              <a:tr h="506000">
                <a:tc>
                  <a:txBody>
                    <a:bodyPr/>
                    <a:lstStyle/>
                    <a:p>
                      <a:r>
                        <a:rPr lang="en-US" dirty="0" err="1"/>
                        <a:t>CarName</a:t>
                      </a:r>
                      <a:endParaRPr lang="en-US" dirty="0"/>
                    </a:p>
                  </a:txBody>
                  <a:tcPr/>
                </a:tc>
                <a:tc>
                  <a:txBody>
                    <a:bodyPr/>
                    <a:lstStyle/>
                    <a:p>
                      <a:r>
                        <a:rPr lang="en-US" dirty="0"/>
                        <a:t>Model</a:t>
                      </a:r>
                    </a:p>
                  </a:txBody>
                  <a:tcPr/>
                </a:tc>
                <a:tc>
                  <a:txBody>
                    <a:bodyPr/>
                    <a:lstStyle/>
                    <a:p>
                      <a:r>
                        <a:rPr lang="en-US" dirty="0"/>
                        <a:t>Car Year</a:t>
                      </a:r>
                    </a:p>
                  </a:txBody>
                  <a:tcPr/>
                </a:tc>
                <a:tc>
                  <a:txBody>
                    <a:bodyPr/>
                    <a:lstStyle/>
                    <a:p>
                      <a:r>
                        <a:rPr lang="en-US" dirty="0" err="1"/>
                        <a:t>PricePerDay</a:t>
                      </a:r>
                      <a:endParaRPr lang="en-US" dirty="0"/>
                    </a:p>
                  </a:txBody>
                  <a:tcPr/>
                </a:tc>
                <a:tc>
                  <a:txBody>
                    <a:bodyPr/>
                    <a:lstStyle/>
                    <a:p>
                      <a:r>
                        <a:rPr lang="en-US" dirty="0" err="1"/>
                        <a:t>PricePerWeak</a:t>
                      </a:r>
                      <a:endParaRPr lang="en-US" dirty="0"/>
                    </a:p>
                  </a:txBody>
                  <a:tcPr/>
                </a:tc>
                <a:tc>
                  <a:txBody>
                    <a:bodyPr/>
                    <a:lstStyle/>
                    <a:p>
                      <a:r>
                        <a:rPr lang="en-US" dirty="0" err="1"/>
                        <a:t>PricePerMonth</a:t>
                      </a:r>
                      <a:endParaRPr lang="en-US" dirty="0"/>
                    </a:p>
                  </a:txBody>
                  <a:tcPr/>
                </a:tc>
                <a:tc>
                  <a:txBody>
                    <a:bodyPr/>
                    <a:lstStyle/>
                    <a:p>
                      <a:r>
                        <a:rPr lang="en-US" dirty="0" err="1"/>
                        <a:t>IsAvailable</a:t>
                      </a:r>
                      <a:endParaRPr lang="en-US" dirty="0"/>
                    </a:p>
                  </a:txBody>
                  <a:tcPr/>
                </a:tc>
                <a:extLst>
                  <a:ext uri="{0D108BD9-81ED-4DB2-BD59-A6C34878D82A}">
                    <a16:rowId xmlns:a16="http://schemas.microsoft.com/office/drawing/2014/main" val="98609010"/>
                  </a:ext>
                </a:extLst>
              </a:tr>
              <a:tr h="506000">
                <a:tc>
                  <a:txBody>
                    <a:bodyPr/>
                    <a:lstStyle/>
                    <a:p>
                      <a:r>
                        <a:rPr lang="en-US" dirty="0"/>
                        <a:t>Toyota</a:t>
                      </a:r>
                    </a:p>
                  </a:txBody>
                  <a:tcPr/>
                </a:tc>
                <a:tc>
                  <a:txBody>
                    <a:bodyPr/>
                    <a:lstStyle/>
                    <a:p>
                      <a:r>
                        <a:rPr lang="en-US" dirty="0"/>
                        <a:t>Corolla</a:t>
                      </a:r>
                    </a:p>
                  </a:txBody>
                  <a:tcPr/>
                </a:tc>
                <a:tc>
                  <a:txBody>
                    <a:bodyPr/>
                    <a:lstStyle/>
                    <a:p>
                      <a:r>
                        <a:rPr lang="en-US" dirty="0"/>
                        <a:t>2021</a:t>
                      </a:r>
                    </a:p>
                  </a:txBody>
                  <a:tcPr/>
                </a:tc>
                <a:tc>
                  <a:txBody>
                    <a:bodyPr/>
                    <a:lstStyle/>
                    <a:p>
                      <a:r>
                        <a:rPr lang="en-US" dirty="0"/>
                        <a:t>40</a:t>
                      </a:r>
                    </a:p>
                  </a:txBody>
                  <a:tcPr/>
                </a:tc>
                <a:tc>
                  <a:txBody>
                    <a:bodyPr/>
                    <a:lstStyle/>
                    <a:p>
                      <a:r>
                        <a:rPr lang="en-US" dirty="0"/>
                        <a:t>250</a:t>
                      </a:r>
                    </a:p>
                  </a:txBody>
                  <a:tcPr/>
                </a:tc>
                <a:tc>
                  <a:txBody>
                    <a:bodyPr/>
                    <a:lstStyle/>
                    <a:p>
                      <a:r>
                        <a:rPr lang="en-US" dirty="0"/>
                        <a:t>900</a:t>
                      </a:r>
                    </a:p>
                  </a:txBody>
                  <a:tcPr/>
                </a:tc>
                <a:tc>
                  <a:txBody>
                    <a:bodyPr/>
                    <a:lstStyle/>
                    <a:p>
                      <a:r>
                        <a:rPr lang="en-US" dirty="0"/>
                        <a:t>1</a:t>
                      </a:r>
                    </a:p>
                  </a:txBody>
                  <a:tcPr/>
                </a:tc>
                <a:extLst>
                  <a:ext uri="{0D108BD9-81ED-4DB2-BD59-A6C34878D82A}">
                    <a16:rowId xmlns:a16="http://schemas.microsoft.com/office/drawing/2014/main" val="201021677"/>
                  </a:ext>
                </a:extLst>
              </a:tr>
              <a:tr h="506000">
                <a:tc>
                  <a:txBody>
                    <a:bodyPr/>
                    <a:lstStyle/>
                    <a:p>
                      <a:r>
                        <a:rPr lang="en-US" dirty="0"/>
                        <a:t>Honda</a:t>
                      </a:r>
                    </a:p>
                  </a:txBody>
                  <a:tcPr/>
                </a:tc>
                <a:tc>
                  <a:txBody>
                    <a:bodyPr/>
                    <a:lstStyle/>
                    <a:p>
                      <a:r>
                        <a:rPr lang="en-US" dirty="0"/>
                        <a:t>Civic</a:t>
                      </a:r>
                    </a:p>
                  </a:txBody>
                  <a:tcPr/>
                </a:tc>
                <a:tc>
                  <a:txBody>
                    <a:bodyPr/>
                    <a:lstStyle/>
                    <a:p>
                      <a:r>
                        <a:rPr lang="en-US" dirty="0"/>
                        <a:t>2020</a:t>
                      </a:r>
                    </a:p>
                  </a:txBody>
                  <a:tcPr/>
                </a:tc>
                <a:tc>
                  <a:txBody>
                    <a:bodyPr/>
                    <a:lstStyle/>
                    <a:p>
                      <a:r>
                        <a:rPr lang="en-US" dirty="0"/>
                        <a:t>45</a:t>
                      </a:r>
                    </a:p>
                  </a:txBody>
                  <a:tcPr/>
                </a:tc>
                <a:tc>
                  <a:txBody>
                    <a:bodyPr/>
                    <a:lstStyle/>
                    <a:p>
                      <a:r>
                        <a:rPr lang="en-US" dirty="0"/>
                        <a:t>270</a:t>
                      </a:r>
                    </a:p>
                  </a:txBody>
                  <a:tcPr/>
                </a:tc>
                <a:tc>
                  <a:txBody>
                    <a:bodyPr/>
                    <a:lstStyle/>
                    <a:p>
                      <a:r>
                        <a:rPr lang="en-US" dirty="0"/>
                        <a:t>950</a:t>
                      </a:r>
                    </a:p>
                  </a:txBody>
                  <a:tcPr/>
                </a:tc>
                <a:tc>
                  <a:txBody>
                    <a:bodyPr/>
                    <a:lstStyle/>
                    <a:p>
                      <a:r>
                        <a:rPr lang="en-US" dirty="0"/>
                        <a:t>0</a:t>
                      </a:r>
                    </a:p>
                  </a:txBody>
                  <a:tcPr/>
                </a:tc>
                <a:extLst>
                  <a:ext uri="{0D108BD9-81ED-4DB2-BD59-A6C34878D82A}">
                    <a16:rowId xmlns:a16="http://schemas.microsoft.com/office/drawing/2014/main" val="2310980408"/>
                  </a:ext>
                </a:extLst>
              </a:tr>
              <a:tr h="506000">
                <a:tc>
                  <a:txBody>
                    <a:bodyPr/>
                    <a:lstStyle/>
                    <a:p>
                      <a:r>
                        <a:rPr lang="en-US" dirty="0"/>
                        <a:t>BMW</a:t>
                      </a:r>
                    </a:p>
                  </a:txBody>
                  <a:tcPr/>
                </a:tc>
                <a:tc>
                  <a:txBody>
                    <a:bodyPr/>
                    <a:lstStyle/>
                    <a:p>
                      <a:r>
                        <a:rPr lang="en-US" dirty="0"/>
                        <a:t>X5</a:t>
                      </a:r>
                    </a:p>
                  </a:txBody>
                  <a:tcPr/>
                </a:tc>
                <a:tc>
                  <a:txBody>
                    <a:bodyPr/>
                    <a:lstStyle/>
                    <a:p>
                      <a:r>
                        <a:rPr lang="en-US" dirty="0"/>
                        <a:t>2022</a:t>
                      </a:r>
                    </a:p>
                  </a:txBody>
                  <a:tcPr/>
                </a:tc>
                <a:tc>
                  <a:txBody>
                    <a:bodyPr/>
                    <a:lstStyle/>
                    <a:p>
                      <a:r>
                        <a:rPr lang="en-US" dirty="0"/>
                        <a:t>90</a:t>
                      </a:r>
                    </a:p>
                  </a:txBody>
                  <a:tcPr/>
                </a:tc>
                <a:tc>
                  <a:txBody>
                    <a:bodyPr/>
                    <a:lstStyle/>
                    <a:p>
                      <a:r>
                        <a:rPr lang="en-US" dirty="0"/>
                        <a:t>550</a:t>
                      </a:r>
                    </a:p>
                  </a:txBody>
                  <a:tcPr/>
                </a:tc>
                <a:tc>
                  <a:txBody>
                    <a:bodyPr/>
                    <a:lstStyle/>
                    <a:p>
                      <a:r>
                        <a:rPr lang="en-US" dirty="0"/>
                        <a:t>1800</a:t>
                      </a:r>
                    </a:p>
                  </a:txBody>
                  <a:tcPr/>
                </a:tc>
                <a:tc>
                  <a:txBody>
                    <a:bodyPr/>
                    <a:lstStyle/>
                    <a:p>
                      <a:r>
                        <a:rPr lang="en-US" dirty="0"/>
                        <a:t>1</a:t>
                      </a:r>
                    </a:p>
                  </a:txBody>
                  <a:tcPr/>
                </a:tc>
                <a:extLst>
                  <a:ext uri="{0D108BD9-81ED-4DB2-BD59-A6C34878D82A}">
                    <a16:rowId xmlns:a16="http://schemas.microsoft.com/office/drawing/2014/main" val="3544993015"/>
                  </a:ext>
                </a:extLst>
              </a:tr>
            </a:tbl>
          </a:graphicData>
        </a:graphic>
      </p:graphicFrame>
    </p:spTree>
    <p:extLst>
      <p:ext uri="{BB962C8B-B14F-4D97-AF65-F5344CB8AC3E}">
        <p14:creationId xmlns:p14="http://schemas.microsoft.com/office/powerpoint/2010/main" val="168968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61248-F5B4-680A-FBAC-5FF0578B62CC}"/>
              </a:ext>
            </a:extLst>
          </p:cNvPr>
          <p:cNvSpPr>
            <a:spLocks noGrp="1"/>
          </p:cNvSpPr>
          <p:nvPr>
            <p:ph type="title"/>
          </p:nvPr>
        </p:nvSpPr>
        <p:spPr/>
        <p:txBody>
          <a:bodyPr/>
          <a:lstStyle/>
          <a:p>
            <a:r>
              <a:rPr lang="en-US" dirty="0"/>
              <a:t>Form 1 coding:</a:t>
            </a:r>
          </a:p>
        </p:txBody>
      </p:sp>
      <p:sp>
        <p:nvSpPr>
          <p:cNvPr id="3" name="Content Placeholder 2">
            <a:extLst>
              <a:ext uri="{FF2B5EF4-FFF2-40B4-BE49-F238E27FC236}">
                <a16:creationId xmlns:a16="http://schemas.microsoft.com/office/drawing/2014/main" id="{D239AF9C-0863-B08E-D966-3C7DAA7129C3}"/>
              </a:ext>
            </a:extLst>
          </p:cNvPr>
          <p:cNvSpPr>
            <a:spLocks noGrp="1"/>
          </p:cNvSpPr>
          <p:nvPr>
            <p:ph idx="1"/>
          </p:nvPr>
        </p:nvSpPr>
        <p:spPr>
          <a:xfrm>
            <a:off x="838200" y="1441577"/>
            <a:ext cx="10515600" cy="4351338"/>
          </a:xfrm>
        </p:spPr>
        <p:txBody>
          <a:bodyPr>
            <a:normAutofit/>
          </a:bodyPr>
          <a:lstStyle/>
          <a:p>
            <a:pPr marL="0" indent="0">
              <a:buNone/>
            </a:pPr>
            <a:endParaRPr lang="en-US" dirty="0"/>
          </a:p>
          <a:p>
            <a:r>
              <a:rPr lang="en-US" dirty="0"/>
              <a:t>        private void button1_Click(object sender, </a:t>
            </a:r>
            <a:r>
              <a:rPr lang="en-US" dirty="0" err="1"/>
              <a:t>EventArgs</a:t>
            </a:r>
            <a:r>
              <a:rPr lang="en-US" dirty="0"/>
              <a:t> e)</a:t>
            </a:r>
          </a:p>
          <a:p>
            <a:pPr marL="0" indent="0">
              <a:buNone/>
            </a:pPr>
            <a:r>
              <a:rPr lang="en-US" dirty="0"/>
              <a:t>      {</a:t>
            </a:r>
          </a:p>
          <a:p>
            <a:pPr marL="0" indent="0">
              <a:buNone/>
            </a:pPr>
            <a:r>
              <a:rPr lang="en-US" dirty="0"/>
              <a:t>           Form2 f2 = new Form2();</a:t>
            </a:r>
          </a:p>
          <a:p>
            <a:pPr marL="0" indent="0">
              <a:buNone/>
            </a:pPr>
            <a:r>
              <a:rPr lang="en-US" dirty="0"/>
              <a:t>            f2.ShowDialog();</a:t>
            </a:r>
          </a:p>
          <a:p>
            <a:pPr marL="0" indent="0">
              <a:buNone/>
            </a:pPr>
            <a:r>
              <a:rPr lang="en-US" dirty="0"/>
              <a:t>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559172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49C3-6E48-FF00-9C0D-600B86938BA5}"/>
              </a:ext>
            </a:extLst>
          </p:cNvPr>
          <p:cNvSpPr>
            <a:spLocks noGrp="1"/>
          </p:cNvSpPr>
          <p:nvPr>
            <p:ph type="title"/>
          </p:nvPr>
        </p:nvSpPr>
        <p:spPr/>
        <p:txBody>
          <a:bodyPr/>
          <a:lstStyle/>
          <a:p>
            <a:r>
              <a:rPr lang="en-US" dirty="0"/>
              <a:t>Form 2 coding:</a:t>
            </a:r>
          </a:p>
        </p:txBody>
      </p:sp>
      <p:sp>
        <p:nvSpPr>
          <p:cNvPr id="3" name="Content Placeholder 2">
            <a:extLst>
              <a:ext uri="{FF2B5EF4-FFF2-40B4-BE49-F238E27FC236}">
                <a16:creationId xmlns:a16="http://schemas.microsoft.com/office/drawing/2014/main" id="{3F075051-0655-9869-18CC-971126FA9546}"/>
              </a:ext>
            </a:extLst>
          </p:cNvPr>
          <p:cNvSpPr>
            <a:spLocks noGrp="1"/>
          </p:cNvSpPr>
          <p:nvPr>
            <p:ph idx="1"/>
          </p:nvPr>
        </p:nvSpPr>
        <p:spPr>
          <a:xfrm>
            <a:off x="838200" y="1615313"/>
            <a:ext cx="10515600" cy="4351338"/>
          </a:xfrm>
        </p:spPr>
        <p:txBody>
          <a:bodyPr/>
          <a:lstStyle/>
          <a:p>
            <a:r>
              <a:rPr lang="en-US" dirty="0"/>
              <a:t>string </a:t>
            </a:r>
            <a:r>
              <a:rPr lang="en-US" dirty="0" err="1"/>
              <a:t>connStr</a:t>
            </a:r>
            <a:r>
              <a:rPr lang="en-US" dirty="0"/>
              <a:t> = @"Data Source=(</a:t>
            </a:r>
            <a:r>
              <a:rPr lang="en-US" dirty="0" err="1"/>
              <a:t>localdb</a:t>
            </a:r>
            <a:r>
              <a:rPr lang="en-US" dirty="0"/>
              <a:t>)\</a:t>
            </a:r>
            <a:r>
              <a:rPr lang="en-US" dirty="0" err="1"/>
              <a:t>MSSQLLocalDB</a:t>
            </a:r>
            <a:r>
              <a:rPr lang="en-US" dirty="0"/>
              <a:t>; Initial Catalog=</a:t>
            </a:r>
            <a:r>
              <a:rPr lang="en-US" dirty="0" err="1"/>
              <a:t>CarRentalDB</a:t>
            </a:r>
            <a:r>
              <a:rPr lang="en-US" dirty="0"/>
              <a:t>; Integrated Security=True";</a:t>
            </a:r>
          </a:p>
          <a:p>
            <a:pPr marL="0" indent="0">
              <a:buNone/>
            </a:pPr>
            <a:r>
              <a:rPr lang="en-US" dirty="0"/>
              <a:t>	- </a:t>
            </a:r>
            <a:r>
              <a:rPr lang="en-US" sz="2400" dirty="0"/>
              <a:t>Defines the connection string used to connect to the SQL 	Server </a:t>
            </a:r>
            <a:r>
              <a:rPr lang="en-US" sz="2400" dirty="0" err="1"/>
              <a:t>LocalDB</a:t>
            </a:r>
            <a:r>
              <a:rPr lang="en-US" sz="2400" dirty="0"/>
              <a:t> database.</a:t>
            </a:r>
          </a:p>
          <a:p>
            <a:endParaRPr lang="en-US" dirty="0"/>
          </a:p>
          <a:p>
            <a:r>
              <a:rPr lang="en-US" dirty="0"/>
              <a:t>using (</a:t>
            </a:r>
            <a:r>
              <a:rPr lang="en-US" dirty="0" err="1"/>
              <a:t>SqlConnection</a:t>
            </a:r>
            <a:r>
              <a:rPr lang="en-US" dirty="0"/>
              <a:t> con = new </a:t>
            </a:r>
            <a:r>
              <a:rPr lang="en-US" dirty="0" err="1"/>
              <a:t>SqlConnection</a:t>
            </a:r>
            <a:r>
              <a:rPr lang="en-US" dirty="0"/>
              <a:t>(</a:t>
            </a:r>
            <a:r>
              <a:rPr lang="en-US" dirty="0" err="1"/>
              <a:t>connStr</a:t>
            </a:r>
            <a:r>
              <a:rPr lang="en-US" dirty="0"/>
              <a:t>))</a:t>
            </a:r>
          </a:p>
          <a:p>
            <a:pPr marL="457200" lvl="1" indent="0">
              <a:buNone/>
            </a:pPr>
            <a:r>
              <a:rPr lang="en-US" dirty="0"/>
              <a:t>	- Creates a database connection and ensures it is automatically closed after use.</a:t>
            </a:r>
          </a:p>
        </p:txBody>
      </p:sp>
    </p:spTree>
    <p:extLst>
      <p:ext uri="{BB962C8B-B14F-4D97-AF65-F5344CB8AC3E}">
        <p14:creationId xmlns:p14="http://schemas.microsoft.com/office/powerpoint/2010/main" val="3410205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E34844-25DF-5957-782F-7059D7223295}"/>
              </a:ext>
            </a:extLst>
          </p:cNvPr>
          <p:cNvSpPr>
            <a:spLocks noGrp="1"/>
          </p:cNvSpPr>
          <p:nvPr>
            <p:ph idx="1"/>
          </p:nvPr>
        </p:nvSpPr>
        <p:spPr>
          <a:xfrm>
            <a:off x="838200" y="408304"/>
            <a:ext cx="10515600" cy="5983351"/>
          </a:xfrm>
        </p:spPr>
        <p:txBody>
          <a:bodyPr/>
          <a:lstStyle/>
          <a:p>
            <a:r>
              <a:rPr lang="en-US" dirty="0"/>
              <a:t>string </a:t>
            </a:r>
            <a:r>
              <a:rPr lang="en-US" dirty="0" err="1"/>
              <a:t>sql</a:t>
            </a:r>
            <a:r>
              <a:rPr lang="en-US" dirty="0"/>
              <a:t> = "SELECT </a:t>
            </a:r>
            <a:r>
              <a:rPr lang="en-US" dirty="0" err="1"/>
              <a:t>IsAvailable</a:t>
            </a:r>
            <a:r>
              <a:rPr lang="en-US" dirty="0"/>
              <a:t> FROM Cars WHERE </a:t>
            </a:r>
            <a:r>
              <a:rPr lang="en-US" dirty="0" err="1"/>
              <a:t>CarName</a:t>
            </a:r>
            <a:r>
              <a:rPr lang="en-US" dirty="0"/>
              <a:t> = @name";</a:t>
            </a:r>
          </a:p>
          <a:p>
            <a:pPr marL="457200" lvl="1" indent="0">
              <a:buNone/>
            </a:pPr>
            <a:r>
              <a:rPr lang="en-US" dirty="0"/>
              <a:t>	- SQL query that retrieves the availability status of a car.</a:t>
            </a:r>
          </a:p>
          <a:p>
            <a:endParaRPr lang="en-US" dirty="0"/>
          </a:p>
          <a:p>
            <a:endParaRPr lang="en-US" dirty="0"/>
          </a:p>
          <a:p>
            <a:r>
              <a:rPr lang="en-US" dirty="0" err="1"/>
              <a:t>cmd.Parameters.AddWithValue</a:t>
            </a:r>
            <a:r>
              <a:rPr lang="en-US" dirty="0"/>
              <a:t>("@name", </a:t>
            </a:r>
            <a:r>
              <a:rPr lang="en-US" dirty="0" err="1"/>
              <a:t>carName</a:t>
            </a:r>
            <a:r>
              <a:rPr lang="en-US" dirty="0"/>
              <a:t>);</a:t>
            </a:r>
          </a:p>
          <a:p>
            <a:pPr marL="0" indent="0">
              <a:buNone/>
            </a:pPr>
            <a:r>
              <a:rPr lang="en-US" dirty="0"/>
              <a:t>	</a:t>
            </a:r>
            <a:r>
              <a:rPr lang="en-US" sz="2400" dirty="0"/>
              <a:t>- Safely passes the car name to the SQL query using a parameterized 			query.</a:t>
            </a:r>
          </a:p>
          <a:p>
            <a:endParaRPr lang="en-US" dirty="0"/>
          </a:p>
          <a:p>
            <a:r>
              <a:rPr lang="en-US" dirty="0"/>
              <a:t>object result = </a:t>
            </a:r>
            <a:r>
              <a:rPr lang="en-US" dirty="0" err="1"/>
              <a:t>cmd.ExecuteScalar</a:t>
            </a:r>
            <a:r>
              <a:rPr lang="en-US" dirty="0"/>
              <a:t>();</a:t>
            </a:r>
          </a:p>
          <a:p>
            <a:pPr marL="0" indent="0">
              <a:buNone/>
            </a:pPr>
            <a:r>
              <a:rPr lang="en-US" sz="2400" dirty="0"/>
              <a:t>	- Executes the query and returns a single value from the database</a:t>
            </a:r>
          </a:p>
        </p:txBody>
      </p:sp>
    </p:spTree>
    <p:extLst>
      <p:ext uri="{BB962C8B-B14F-4D97-AF65-F5344CB8AC3E}">
        <p14:creationId xmlns:p14="http://schemas.microsoft.com/office/powerpoint/2010/main" val="159992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8A854-1B21-3886-26F6-7E017C04ACBF}"/>
              </a:ext>
            </a:extLst>
          </p:cNvPr>
          <p:cNvSpPr>
            <a:spLocks noGrp="1"/>
          </p:cNvSpPr>
          <p:nvPr>
            <p:ph idx="1"/>
          </p:nvPr>
        </p:nvSpPr>
        <p:spPr>
          <a:xfrm>
            <a:off x="838200" y="1484312"/>
            <a:ext cx="10515600" cy="3889376"/>
          </a:xfrm>
        </p:spPr>
        <p:txBody>
          <a:bodyPr/>
          <a:lstStyle/>
          <a:p>
            <a:r>
              <a:rPr lang="en-US" dirty="0"/>
              <a:t>string </a:t>
            </a:r>
            <a:r>
              <a:rPr lang="en-US" dirty="0" err="1"/>
              <a:t>sql</a:t>
            </a:r>
            <a:r>
              <a:rPr lang="en-US" dirty="0"/>
              <a:t> = @"SELECT </a:t>
            </a:r>
            <a:r>
              <a:rPr lang="en-US" dirty="0" err="1"/>
              <a:t>CarName</a:t>
            </a:r>
            <a:r>
              <a:rPr lang="en-US" dirty="0"/>
              <a:t>, Model, </a:t>
            </a:r>
            <a:r>
              <a:rPr lang="en-US" dirty="0" err="1"/>
              <a:t>CarYear</a:t>
            </a:r>
            <a:r>
              <a:rPr lang="en-US" dirty="0"/>
              <a:t>, </a:t>
            </a:r>
            <a:r>
              <a:rPr lang="en-US" dirty="0" err="1"/>
              <a:t>PricePerDay</a:t>
            </a:r>
            <a:r>
              <a:rPr lang="en-US" dirty="0"/>
              <a:t>, </a:t>
            </a:r>
            <a:r>
              <a:rPr lang="en-US" dirty="0" err="1"/>
              <a:t>PricePerWeek</a:t>
            </a:r>
            <a:r>
              <a:rPr lang="en-US" dirty="0"/>
              <a:t>, </a:t>
            </a:r>
            <a:r>
              <a:rPr lang="en-US" dirty="0" err="1"/>
              <a:t>PricePerMonth</a:t>
            </a:r>
            <a:r>
              <a:rPr lang="en-US" dirty="0"/>
              <a:t> FROM Cars";</a:t>
            </a:r>
          </a:p>
          <a:p>
            <a:pPr marL="0" indent="0">
              <a:buNone/>
            </a:pPr>
            <a:r>
              <a:rPr lang="en-US" sz="2400" dirty="0"/>
              <a:t>	- SQL query that retrieves car details and rental prices from the database.</a:t>
            </a:r>
          </a:p>
          <a:p>
            <a:pPr marL="0" indent="0">
              <a:buNone/>
            </a:pPr>
            <a:endParaRPr lang="en-US" sz="2400" dirty="0"/>
          </a:p>
          <a:p>
            <a:r>
              <a:rPr lang="en-US" dirty="0" err="1"/>
              <a:t>SqlDataReader</a:t>
            </a:r>
            <a:r>
              <a:rPr lang="en-US" dirty="0"/>
              <a:t> reader = </a:t>
            </a:r>
            <a:r>
              <a:rPr lang="en-US" dirty="0" err="1"/>
              <a:t>cmd.ExecuteReader</a:t>
            </a:r>
            <a:r>
              <a:rPr lang="en-US" dirty="0"/>
              <a:t>();</a:t>
            </a:r>
          </a:p>
          <a:p>
            <a:pPr marL="0" indent="0">
              <a:buNone/>
            </a:pPr>
            <a:r>
              <a:rPr lang="en-US" dirty="0"/>
              <a:t>	</a:t>
            </a:r>
            <a:r>
              <a:rPr lang="en-US" sz="2400" dirty="0"/>
              <a:t>- Reads multiple rows of data returned from the database.</a:t>
            </a:r>
          </a:p>
          <a:p>
            <a:pPr marL="0" indent="0">
              <a:buNone/>
            </a:pPr>
            <a:endParaRPr lang="en-US" sz="2400" dirty="0"/>
          </a:p>
        </p:txBody>
      </p:sp>
    </p:spTree>
    <p:extLst>
      <p:ext uri="{BB962C8B-B14F-4D97-AF65-F5344CB8AC3E}">
        <p14:creationId xmlns:p14="http://schemas.microsoft.com/office/powerpoint/2010/main" val="375598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296954-4E9B-2456-411C-8B77919E1712}"/>
              </a:ext>
            </a:extLst>
          </p:cNvPr>
          <p:cNvSpPr>
            <a:spLocks noGrp="1"/>
          </p:cNvSpPr>
          <p:nvPr>
            <p:ph idx="1"/>
          </p:nvPr>
        </p:nvSpPr>
        <p:spPr>
          <a:xfrm>
            <a:off x="710184" y="886334"/>
            <a:ext cx="4126992" cy="4243449"/>
          </a:xfrm>
        </p:spPr>
        <p:txBody>
          <a:bodyPr>
            <a:noAutofit/>
          </a:bodyPr>
          <a:lstStyle/>
          <a:p>
            <a:r>
              <a:rPr lang="en-US" sz="1800" dirty="0"/>
              <a:t>object result = </a:t>
            </a:r>
            <a:r>
              <a:rPr lang="en-US" sz="1800" dirty="0" err="1"/>
              <a:t>cmd.ExecuteScalar</a:t>
            </a:r>
            <a:r>
              <a:rPr lang="en-US" sz="1800" dirty="0"/>
              <a:t>();</a:t>
            </a:r>
          </a:p>
          <a:p>
            <a:endParaRPr lang="en-US" sz="1800" dirty="0"/>
          </a:p>
          <a:p>
            <a:pPr marL="0" indent="0">
              <a:buNone/>
            </a:pPr>
            <a:r>
              <a:rPr lang="en-US" sz="1800" dirty="0"/>
              <a:t>                if (result == null)</a:t>
            </a:r>
          </a:p>
          <a:p>
            <a:pPr marL="0" indent="0">
              <a:buNone/>
            </a:pPr>
            <a:r>
              <a:rPr lang="en-US" sz="1800" dirty="0"/>
              <a:t>                {</a:t>
            </a:r>
          </a:p>
          <a:p>
            <a:pPr marL="0" indent="0">
              <a:buNone/>
            </a:pPr>
            <a:r>
              <a:rPr lang="en-US" sz="1800" dirty="0"/>
              <a:t>                    </a:t>
            </a:r>
            <a:r>
              <a:rPr lang="en-US" sz="1800" dirty="0" err="1"/>
              <a:t>MessageBox.Show</a:t>
            </a:r>
            <a:r>
              <a:rPr lang="en-US" sz="1800" dirty="0"/>
              <a:t>("Car not found in database.");</a:t>
            </a:r>
          </a:p>
          <a:p>
            <a:pPr marL="0" indent="0">
              <a:buNone/>
            </a:pPr>
            <a:r>
              <a:rPr lang="en-US" sz="1800" dirty="0"/>
              <a:t>                    return;</a:t>
            </a:r>
          </a:p>
          <a:p>
            <a:pPr marL="0" indent="0">
              <a:buNone/>
            </a:pPr>
            <a:r>
              <a:rPr lang="en-US" sz="1800" dirty="0"/>
              <a:t>                }</a:t>
            </a:r>
          </a:p>
          <a:p>
            <a:endParaRPr lang="en-US" sz="1800" dirty="0"/>
          </a:p>
          <a:p>
            <a:pPr marL="0" indent="0">
              <a:buNone/>
            </a:pPr>
            <a:r>
              <a:rPr lang="en-US" sz="1800" dirty="0"/>
              <a:t>                bool </a:t>
            </a:r>
            <a:r>
              <a:rPr lang="en-US" sz="1800" dirty="0" err="1"/>
              <a:t>isAvailable</a:t>
            </a:r>
            <a:r>
              <a:rPr lang="en-US" sz="1800" dirty="0"/>
              <a:t> = </a:t>
            </a:r>
            <a:r>
              <a:rPr lang="en-US" sz="1800" dirty="0" err="1"/>
              <a:t>Convert.ToBoolean</a:t>
            </a:r>
            <a:r>
              <a:rPr lang="en-US" sz="1800" dirty="0"/>
              <a:t>(result);</a:t>
            </a:r>
          </a:p>
          <a:p>
            <a:endParaRPr lang="en-US" sz="800" dirty="0"/>
          </a:p>
          <a:p>
            <a:pPr marL="0" indent="0">
              <a:buNone/>
            </a:pPr>
            <a:endParaRPr lang="en-US" sz="800" dirty="0"/>
          </a:p>
        </p:txBody>
      </p:sp>
      <p:sp>
        <p:nvSpPr>
          <p:cNvPr id="4" name="TextBox 3">
            <a:extLst>
              <a:ext uri="{FF2B5EF4-FFF2-40B4-BE49-F238E27FC236}">
                <a16:creationId xmlns:a16="http://schemas.microsoft.com/office/drawing/2014/main" id="{F00CC4D4-AD28-AB6F-B11F-C92DEE06942A}"/>
              </a:ext>
            </a:extLst>
          </p:cNvPr>
          <p:cNvSpPr txBox="1"/>
          <p:nvPr/>
        </p:nvSpPr>
        <p:spPr>
          <a:xfrm>
            <a:off x="5330952" y="751344"/>
            <a:ext cx="4425696" cy="5355312"/>
          </a:xfrm>
          <a:prstGeom prst="rect">
            <a:avLst/>
          </a:prstGeom>
          <a:noFill/>
        </p:spPr>
        <p:txBody>
          <a:bodyPr wrap="square" rtlCol="0">
            <a:spAutoFit/>
          </a:bodyPr>
          <a:lstStyle/>
          <a:p>
            <a:r>
              <a:rPr lang="en-US" dirty="0"/>
              <a:t> if (</a:t>
            </a:r>
            <a:r>
              <a:rPr lang="en-US" dirty="0" err="1"/>
              <a:t>isAvailable</a:t>
            </a:r>
            <a:r>
              <a:rPr lang="en-US" dirty="0"/>
              <a:t>)</a:t>
            </a:r>
          </a:p>
          <a:p>
            <a:r>
              <a:rPr lang="en-US" dirty="0"/>
              <a:t>                {</a:t>
            </a:r>
          </a:p>
          <a:p>
            <a:r>
              <a:rPr lang="en-US" dirty="0"/>
              <a:t>                    </a:t>
            </a:r>
            <a:r>
              <a:rPr lang="en-US" dirty="0" err="1"/>
              <a:t>MessageBox.Show</a:t>
            </a:r>
            <a:r>
              <a:rPr lang="en-US" dirty="0"/>
              <a:t>(</a:t>
            </a:r>
          </a:p>
          <a:p>
            <a:r>
              <a:rPr lang="en-US" dirty="0"/>
              <a:t>                        </a:t>
            </a:r>
            <a:r>
              <a:rPr lang="en-US" dirty="0" err="1"/>
              <a:t>carName</a:t>
            </a:r>
            <a:r>
              <a:rPr lang="en-US" dirty="0"/>
              <a:t> + " is available.\</a:t>
            </a:r>
            <a:r>
              <a:rPr lang="en-US" dirty="0" err="1"/>
              <a:t>nPlease</a:t>
            </a:r>
            <a:r>
              <a:rPr lang="en-US" dirty="0"/>
              <a:t> visit the nearest rental office.",</a:t>
            </a:r>
          </a:p>
          <a:p>
            <a:r>
              <a:rPr lang="en-US" dirty="0"/>
              <a:t>                        "Car Available",</a:t>
            </a:r>
          </a:p>
          <a:p>
            <a:r>
              <a:rPr lang="en-US" dirty="0"/>
              <a:t>                        </a:t>
            </a:r>
            <a:r>
              <a:rPr lang="en-US" dirty="0" err="1"/>
              <a:t>MessageBoxButtons.OK</a:t>
            </a:r>
            <a:r>
              <a:rPr lang="en-US" dirty="0"/>
              <a:t>,</a:t>
            </a:r>
          </a:p>
          <a:p>
            <a:r>
              <a:rPr lang="en-US" dirty="0"/>
              <a:t>                        </a:t>
            </a:r>
            <a:r>
              <a:rPr lang="en-US" dirty="0" err="1"/>
              <a:t>MessageBoxIcon.Information</a:t>
            </a:r>
            <a:r>
              <a:rPr lang="en-US" dirty="0"/>
              <a:t>);</a:t>
            </a:r>
          </a:p>
          <a:p>
            <a:r>
              <a:rPr lang="en-US" dirty="0"/>
              <a:t>                }</a:t>
            </a:r>
          </a:p>
          <a:p>
            <a:r>
              <a:rPr lang="en-US" dirty="0"/>
              <a:t>                else</a:t>
            </a:r>
          </a:p>
          <a:p>
            <a:r>
              <a:rPr lang="en-US" dirty="0"/>
              <a:t>                {</a:t>
            </a:r>
          </a:p>
          <a:p>
            <a:r>
              <a:rPr lang="en-US" dirty="0"/>
              <a:t>                    </a:t>
            </a:r>
            <a:r>
              <a:rPr lang="en-US" dirty="0" err="1"/>
              <a:t>MessageBox.Show</a:t>
            </a:r>
            <a:r>
              <a:rPr lang="en-US" dirty="0"/>
              <a:t>(</a:t>
            </a:r>
          </a:p>
          <a:p>
            <a:r>
              <a:rPr lang="en-US" dirty="0"/>
              <a:t>                        "Sorry, " + </a:t>
            </a:r>
            <a:r>
              <a:rPr lang="en-US" dirty="0" err="1"/>
              <a:t>carName</a:t>
            </a:r>
            <a:r>
              <a:rPr lang="en-US" dirty="0"/>
              <a:t> + " is currently not available.",</a:t>
            </a:r>
          </a:p>
          <a:p>
            <a:r>
              <a:rPr lang="en-US" dirty="0"/>
              <a:t>                        "Car Not Available",</a:t>
            </a:r>
          </a:p>
          <a:p>
            <a:r>
              <a:rPr lang="en-US" dirty="0"/>
              <a:t>                        </a:t>
            </a:r>
            <a:r>
              <a:rPr lang="en-US" dirty="0" err="1"/>
              <a:t>MessageBoxButtons.OK</a:t>
            </a:r>
            <a:r>
              <a:rPr lang="en-US" dirty="0"/>
              <a:t>,</a:t>
            </a:r>
          </a:p>
          <a:p>
            <a:r>
              <a:rPr lang="en-US" dirty="0"/>
              <a:t>                        </a:t>
            </a:r>
            <a:r>
              <a:rPr lang="en-US" dirty="0" err="1"/>
              <a:t>MessageBoxIcon.Warning</a:t>
            </a:r>
            <a:r>
              <a:rPr lang="en-US" dirty="0"/>
              <a:t>);</a:t>
            </a:r>
          </a:p>
          <a:p>
            <a:r>
              <a:rPr lang="en-US" dirty="0"/>
              <a:t>             }</a:t>
            </a:r>
          </a:p>
        </p:txBody>
      </p:sp>
    </p:spTree>
    <p:extLst>
      <p:ext uri="{BB962C8B-B14F-4D97-AF65-F5344CB8AC3E}">
        <p14:creationId xmlns:p14="http://schemas.microsoft.com/office/powerpoint/2010/main" val="918430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9D865E-7DA6-AD67-8F19-030B00DEBE89}"/>
              </a:ext>
            </a:extLst>
          </p:cNvPr>
          <p:cNvSpPr>
            <a:spLocks noGrp="1"/>
          </p:cNvSpPr>
          <p:nvPr>
            <p:ph idx="1"/>
          </p:nvPr>
        </p:nvSpPr>
        <p:spPr>
          <a:xfrm>
            <a:off x="205814" y="490601"/>
            <a:ext cx="6339840" cy="4351338"/>
          </a:xfrm>
        </p:spPr>
        <p:txBody>
          <a:bodyPr>
            <a:noAutofit/>
          </a:bodyPr>
          <a:lstStyle/>
          <a:p>
            <a:r>
              <a:rPr lang="en-US" sz="1400" dirty="0"/>
              <a:t>int index = 1;</a:t>
            </a:r>
          </a:p>
          <a:p>
            <a:endParaRPr lang="en-US" sz="1400" dirty="0"/>
          </a:p>
          <a:p>
            <a:pPr marL="0" indent="0">
              <a:buNone/>
            </a:pPr>
            <a:r>
              <a:rPr lang="en-US" sz="1400" dirty="0"/>
              <a:t>                while (</a:t>
            </a:r>
            <a:r>
              <a:rPr lang="en-US" sz="1400" dirty="0" err="1"/>
              <a:t>reader.Read</a:t>
            </a:r>
            <a:r>
              <a:rPr lang="en-US" sz="1400" dirty="0"/>
              <a:t>())</a:t>
            </a:r>
          </a:p>
          <a:p>
            <a:pPr marL="0" indent="0">
              <a:buNone/>
            </a:pPr>
            <a:r>
              <a:rPr lang="en-US" sz="1400" dirty="0"/>
              <a:t>                {</a:t>
            </a:r>
          </a:p>
          <a:p>
            <a:pPr marL="0" indent="0">
              <a:buNone/>
            </a:pPr>
            <a:r>
              <a:rPr lang="en-US" sz="1400" dirty="0"/>
              <a:t>                    if (index == 1)</a:t>
            </a:r>
          </a:p>
          <a:p>
            <a:pPr marL="0" indent="0">
              <a:buNone/>
            </a:pPr>
            <a:r>
              <a:rPr lang="en-US" sz="1400" dirty="0"/>
              <a:t>                    {</a:t>
            </a:r>
          </a:p>
          <a:p>
            <a:pPr marL="0" indent="0">
              <a:buNone/>
            </a:pPr>
            <a:r>
              <a:rPr lang="en-US" sz="1400" dirty="0"/>
              <a:t>                        lblCar1Name.Text = "Name: " + reader["</a:t>
            </a:r>
            <a:r>
              <a:rPr lang="en-US" sz="1400" dirty="0" err="1"/>
              <a:t>CarName</a:t>
            </a:r>
            <a:r>
              <a:rPr lang="en-US" sz="1400" dirty="0"/>
              <a:t>"];</a:t>
            </a:r>
          </a:p>
          <a:p>
            <a:pPr marL="0" indent="0">
              <a:buNone/>
            </a:pPr>
            <a:r>
              <a:rPr lang="en-US" sz="1400" dirty="0"/>
              <a:t>                        lblCar1Model.Text = "Model: " + reader["Model"];</a:t>
            </a:r>
          </a:p>
          <a:p>
            <a:pPr marL="0" indent="0">
              <a:buNone/>
            </a:pPr>
            <a:r>
              <a:rPr lang="en-US" sz="1400" dirty="0"/>
              <a:t>                        lblCar1Year.Text = "Year: " + reader["</a:t>
            </a:r>
            <a:r>
              <a:rPr lang="en-US" sz="1400" dirty="0" err="1"/>
              <a:t>CarYear</a:t>
            </a:r>
            <a:r>
              <a:rPr lang="en-US" sz="1400" dirty="0"/>
              <a:t>"];</a:t>
            </a:r>
          </a:p>
          <a:p>
            <a:endParaRPr lang="en-US" sz="1400" dirty="0"/>
          </a:p>
          <a:p>
            <a:pPr marL="0" indent="0">
              <a:buNone/>
            </a:pPr>
            <a:r>
              <a:rPr lang="en-US" sz="1400" dirty="0"/>
              <a:t>                        </a:t>
            </a:r>
          </a:p>
          <a:p>
            <a:pPr marL="0" indent="0">
              <a:buNone/>
            </a:pPr>
            <a:r>
              <a:rPr lang="en-US" sz="1400" dirty="0"/>
              <a:t>                        car1DayPrice = </a:t>
            </a:r>
            <a:r>
              <a:rPr lang="en-US" sz="1400" dirty="0" err="1"/>
              <a:t>Convert.ToDecimal</a:t>
            </a:r>
            <a:r>
              <a:rPr lang="en-US" sz="1400" dirty="0"/>
              <a:t>(reader["</a:t>
            </a:r>
            <a:r>
              <a:rPr lang="en-US" sz="1400" dirty="0" err="1"/>
              <a:t>PricePerDay</a:t>
            </a:r>
            <a:r>
              <a:rPr lang="en-US" sz="1400" dirty="0"/>
              <a:t>"]);</a:t>
            </a:r>
          </a:p>
          <a:p>
            <a:pPr marL="0" indent="0">
              <a:buNone/>
            </a:pPr>
            <a:r>
              <a:rPr lang="en-US" sz="1400" dirty="0"/>
              <a:t>                        car1WeekPrice = </a:t>
            </a:r>
            <a:r>
              <a:rPr lang="en-US" sz="1400" dirty="0" err="1"/>
              <a:t>Convert.ToDecimal</a:t>
            </a:r>
            <a:r>
              <a:rPr lang="en-US" sz="1400" dirty="0"/>
              <a:t>(reader["</a:t>
            </a:r>
            <a:r>
              <a:rPr lang="en-US" sz="1400" dirty="0" err="1"/>
              <a:t>PricePerWeek</a:t>
            </a:r>
            <a:r>
              <a:rPr lang="en-US" sz="1400" dirty="0"/>
              <a:t>"]);</a:t>
            </a:r>
          </a:p>
          <a:p>
            <a:pPr marL="0" indent="0">
              <a:buNone/>
            </a:pPr>
            <a:r>
              <a:rPr lang="en-US" sz="1400" dirty="0"/>
              <a:t>                        car1MonthPrice = </a:t>
            </a:r>
            <a:r>
              <a:rPr lang="en-US" sz="1400" dirty="0" err="1"/>
              <a:t>Convert.ToDecimal</a:t>
            </a:r>
            <a:r>
              <a:rPr lang="en-US" sz="1400" dirty="0"/>
              <a:t>(reader["</a:t>
            </a:r>
            <a:r>
              <a:rPr lang="en-US" sz="1400" dirty="0" err="1"/>
              <a:t>PricePerMonth</a:t>
            </a:r>
            <a:r>
              <a:rPr lang="en-US" sz="1400" dirty="0"/>
              <a:t>"]);</a:t>
            </a:r>
          </a:p>
          <a:p>
            <a:pPr marL="0" indent="0">
              <a:buNone/>
            </a:pPr>
            <a:r>
              <a:rPr lang="en-US" sz="1400" dirty="0"/>
              <a:t>             }</a:t>
            </a:r>
          </a:p>
        </p:txBody>
      </p:sp>
      <p:sp>
        <p:nvSpPr>
          <p:cNvPr id="4" name="TextBox 3">
            <a:extLst>
              <a:ext uri="{FF2B5EF4-FFF2-40B4-BE49-F238E27FC236}">
                <a16:creationId xmlns:a16="http://schemas.microsoft.com/office/drawing/2014/main" id="{0C254B45-F5DD-B9F9-2185-397E940ABC01}"/>
              </a:ext>
            </a:extLst>
          </p:cNvPr>
          <p:cNvSpPr txBox="1"/>
          <p:nvPr/>
        </p:nvSpPr>
        <p:spPr>
          <a:xfrm>
            <a:off x="5465064" y="582067"/>
            <a:ext cx="5917618" cy="5693866"/>
          </a:xfrm>
          <a:prstGeom prst="rect">
            <a:avLst/>
          </a:prstGeom>
          <a:noFill/>
        </p:spPr>
        <p:txBody>
          <a:bodyPr wrap="square" rtlCol="0">
            <a:spAutoFit/>
          </a:bodyPr>
          <a:lstStyle/>
          <a:p>
            <a:r>
              <a:rPr lang="en-US" sz="1400" dirty="0"/>
              <a:t> else if (index == 2)</a:t>
            </a:r>
          </a:p>
          <a:p>
            <a:r>
              <a:rPr lang="en-US" sz="1400" dirty="0"/>
              <a:t>                    {</a:t>
            </a:r>
          </a:p>
          <a:p>
            <a:r>
              <a:rPr lang="en-US" sz="1400" dirty="0"/>
              <a:t>                        lblCar2Name.Text = "Name: " + reader["</a:t>
            </a:r>
            <a:r>
              <a:rPr lang="en-US" sz="1400" dirty="0" err="1"/>
              <a:t>CarName</a:t>
            </a:r>
            <a:r>
              <a:rPr lang="en-US" sz="1400" dirty="0"/>
              <a:t>"];</a:t>
            </a:r>
          </a:p>
          <a:p>
            <a:r>
              <a:rPr lang="en-US" sz="1400" dirty="0"/>
              <a:t>                        lblCar2Model.Text = "Model: " + reader["Model"];</a:t>
            </a:r>
          </a:p>
          <a:p>
            <a:r>
              <a:rPr lang="en-US" sz="1400" dirty="0"/>
              <a:t>                        lblCar2Year.Text = "Year: " + reader["</a:t>
            </a:r>
            <a:r>
              <a:rPr lang="en-US" sz="1400" dirty="0" err="1"/>
              <a:t>CarYear</a:t>
            </a:r>
            <a:r>
              <a:rPr lang="en-US" sz="1400" dirty="0"/>
              <a:t>"];</a:t>
            </a:r>
          </a:p>
          <a:p>
            <a:endParaRPr lang="en-US" sz="1400" dirty="0"/>
          </a:p>
          <a:p>
            <a:r>
              <a:rPr lang="en-US" sz="1400" dirty="0"/>
              <a:t>                        car2DayPrice = </a:t>
            </a:r>
            <a:r>
              <a:rPr lang="en-US" sz="1400" dirty="0" err="1"/>
              <a:t>Convert.ToDecimal</a:t>
            </a:r>
            <a:r>
              <a:rPr lang="en-US" sz="1400" dirty="0"/>
              <a:t>(reader["</a:t>
            </a:r>
            <a:r>
              <a:rPr lang="en-US" sz="1400" dirty="0" err="1"/>
              <a:t>PricePerDay</a:t>
            </a:r>
            <a:r>
              <a:rPr lang="en-US" sz="1400" dirty="0"/>
              <a:t>"]);</a:t>
            </a:r>
          </a:p>
          <a:p>
            <a:r>
              <a:rPr lang="en-US" sz="1400" dirty="0"/>
              <a:t>                        car2WeekPrice = </a:t>
            </a:r>
            <a:r>
              <a:rPr lang="en-US" sz="1400" dirty="0" err="1"/>
              <a:t>Convert.ToDecimal</a:t>
            </a:r>
            <a:r>
              <a:rPr lang="en-US" sz="1400" dirty="0"/>
              <a:t>(reader["</a:t>
            </a:r>
            <a:r>
              <a:rPr lang="en-US" sz="1400" dirty="0" err="1"/>
              <a:t>PricePerWeek</a:t>
            </a:r>
            <a:r>
              <a:rPr lang="en-US" sz="1400" dirty="0"/>
              <a:t>"]);</a:t>
            </a:r>
          </a:p>
          <a:p>
            <a:r>
              <a:rPr lang="en-US" sz="1400" dirty="0"/>
              <a:t>                        car2MonthPrice = </a:t>
            </a:r>
            <a:r>
              <a:rPr lang="en-US" sz="1400" dirty="0" err="1"/>
              <a:t>Convert.ToDecimal</a:t>
            </a:r>
            <a:r>
              <a:rPr lang="en-US" sz="1400" dirty="0"/>
              <a:t>(reader["</a:t>
            </a:r>
            <a:r>
              <a:rPr lang="en-US" sz="1400" dirty="0" err="1"/>
              <a:t>PricePerMonth</a:t>
            </a:r>
            <a:r>
              <a:rPr lang="en-US" sz="1400" dirty="0"/>
              <a:t>"]);</a:t>
            </a:r>
          </a:p>
          <a:p>
            <a:r>
              <a:rPr lang="en-US" sz="1400" dirty="0"/>
              <a:t>                    }</a:t>
            </a:r>
          </a:p>
          <a:p>
            <a:endParaRPr lang="en-US" sz="1400" dirty="0"/>
          </a:p>
          <a:p>
            <a:r>
              <a:rPr lang="en-US" sz="1400" dirty="0"/>
              <a:t>                    else if (index == 3)</a:t>
            </a:r>
          </a:p>
          <a:p>
            <a:r>
              <a:rPr lang="en-US" sz="1400" dirty="0"/>
              <a:t>                    {</a:t>
            </a:r>
          </a:p>
          <a:p>
            <a:r>
              <a:rPr lang="en-US" sz="1400" dirty="0"/>
              <a:t>                        lblCar3Name.Text = "Name: " + reader["</a:t>
            </a:r>
            <a:r>
              <a:rPr lang="en-US" sz="1400" dirty="0" err="1"/>
              <a:t>CarName</a:t>
            </a:r>
            <a:r>
              <a:rPr lang="en-US" sz="1400" dirty="0"/>
              <a:t>"];</a:t>
            </a:r>
          </a:p>
          <a:p>
            <a:r>
              <a:rPr lang="en-US" sz="1400" dirty="0"/>
              <a:t>                        lblCar3Model.Text = "Model: " + reader["Model"];</a:t>
            </a:r>
          </a:p>
          <a:p>
            <a:r>
              <a:rPr lang="en-US" sz="1400" dirty="0"/>
              <a:t>                        lblCar3Year.Text = "Year: " + reader["</a:t>
            </a:r>
            <a:r>
              <a:rPr lang="en-US" sz="1400" dirty="0" err="1"/>
              <a:t>CarYear</a:t>
            </a:r>
            <a:r>
              <a:rPr lang="en-US" sz="1400" dirty="0"/>
              <a:t>"];</a:t>
            </a:r>
          </a:p>
          <a:p>
            <a:endParaRPr lang="en-US" sz="1400" dirty="0"/>
          </a:p>
          <a:p>
            <a:r>
              <a:rPr lang="en-US" sz="1400" dirty="0"/>
              <a:t>                        car3DayPrice = </a:t>
            </a:r>
            <a:r>
              <a:rPr lang="en-US" sz="1400" dirty="0" err="1"/>
              <a:t>Convert.ToDecimal</a:t>
            </a:r>
            <a:r>
              <a:rPr lang="en-US" sz="1400" dirty="0"/>
              <a:t>(reader["</a:t>
            </a:r>
            <a:r>
              <a:rPr lang="en-US" sz="1400" dirty="0" err="1"/>
              <a:t>PricePerDay</a:t>
            </a:r>
            <a:r>
              <a:rPr lang="en-US" sz="1400" dirty="0"/>
              <a:t>"]);</a:t>
            </a:r>
          </a:p>
          <a:p>
            <a:r>
              <a:rPr lang="en-US" sz="1400" dirty="0"/>
              <a:t>                        car3WeekPrice = </a:t>
            </a:r>
            <a:r>
              <a:rPr lang="en-US" sz="1400" dirty="0" err="1"/>
              <a:t>Convert.ToDecimal</a:t>
            </a:r>
            <a:r>
              <a:rPr lang="en-US" sz="1400" dirty="0"/>
              <a:t>(reader["</a:t>
            </a:r>
            <a:r>
              <a:rPr lang="en-US" sz="1400" dirty="0" err="1"/>
              <a:t>PricePerWeek</a:t>
            </a:r>
            <a:r>
              <a:rPr lang="en-US" sz="1400" dirty="0"/>
              <a:t>"]);</a:t>
            </a:r>
          </a:p>
          <a:p>
            <a:r>
              <a:rPr lang="en-US" sz="1400" dirty="0"/>
              <a:t>                        car3MonthPrice = </a:t>
            </a:r>
            <a:r>
              <a:rPr lang="en-US" sz="1400" dirty="0" err="1"/>
              <a:t>Convert.ToDecimal</a:t>
            </a:r>
            <a:r>
              <a:rPr lang="en-US" sz="1400" dirty="0"/>
              <a:t>(reader["</a:t>
            </a:r>
            <a:r>
              <a:rPr lang="en-US" sz="1400" dirty="0" err="1"/>
              <a:t>PricePerMonth</a:t>
            </a:r>
            <a:r>
              <a:rPr lang="en-US" sz="1400" dirty="0"/>
              <a:t>"]);</a:t>
            </a:r>
          </a:p>
          <a:p>
            <a:r>
              <a:rPr lang="en-US" sz="1400" dirty="0"/>
              <a:t>                    }</a:t>
            </a:r>
          </a:p>
          <a:p>
            <a:endParaRPr lang="en-US" sz="1400" dirty="0"/>
          </a:p>
          <a:p>
            <a:endParaRPr lang="en-US" sz="1400" dirty="0"/>
          </a:p>
          <a:p>
            <a:r>
              <a:rPr lang="en-US" sz="1400" dirty="0"/>
              <a:t>                    index++;</a:t>
            </a:r>
          </a:p>
        </p:txBody>
      </p:sp>
    </p:spTree>
    <p:extLst>
      <p:ext uri="{BB962C8B-B14F-4D97-AF65-F5344CB8AC3E}">
        <p14:creationId xmlns:p14="http://schemas.microsoft.com/office/powerpoint/2010/main" val="1718235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35182-3BBE-C275-B397-553DEDC1BB93}"/>
              </a:ext>
            </a:extLst>
          </p:cNvPr>
          <p:cNvSpPr>
            <a:spLocks noGrp="1"/>
          </p:cNvSpPr>
          <p:nvPr>
            <p:ph idx="1"/>
          </p:nvPr>
        </p:nvSpPr>
        <p:spPr>
          <a:xfrm>
            <a:off x="451512" y="719151"/>
            <a:ext cx="8305800" cy="2593742"/>
          </a:xfrm>
        </p:spPr>
        <p:txBody>
          <a:bodyPr>
            <a:noAutofit/>
          </a:bodyPr>
          <a:lstStyle/>
          <a:p>
            <a:r>
              <a:rPr lang="en-US" sz="1800" dirty="0"/>
              <a:t>private void cmbCar1Period_SelectedIndexChanged(object sender, </a:t>
            </a:r>
            <a:r>
              <a:rPr lang="en-US" sz="1800" dirty="0" err="1"/>
              <a:t>EventArgs</a:t>
            </a:r>
            <a:r>
              <a:rPr lang="en-US" sz="1800" dirty="0"/>
              <a:t> e)</a:t>
            </a:r>
          </a:p>
          <a:p>
            <a:pPr marL="0" indent="0">
              <a:buNone/>
            </a:pPr>
            <a:r>
              <a:rPr lang="en-US" sz="1800" dirty="0"/>
              <a:t>{</a:t>
            </a:r>
          </a:p>
          <a:p>
            <a:pPr marL="0" indent="0">
              <a:buNone/>
            </a:pPr>
            <a:r>
              <a:rPr lang="en-US" sz="1800" dirty="0"/>
              <a:t>    if (cmbCar1Period.SelectedIndex == -1)</a:t>
            </a:r>
          </a:p>
          <a:p>
            <a:pPr marL="0" indent="0">
              <a:buNone/>
            </a:pPr>
            <a:r>
              <a:rPr lang="en-US" sz="1800" dirty="0"/>
              <a:t>        return;</a:t>
            </a:r>
          </a:p>
          <a:p>
            <a:pPr marL="0" indent="0">
              <a:buNone/>
            </a:pPr>
            <a:endParaRPr lang="en-US" sz="1800" dirty="0"/>
          </a:p>
          <a:p>
            <a:pPr marL="0" indent="0">
              <a:buNone/>
            </a:pPr>
            <a:r>
              <a:rPr lang="en-US" sz="1800" dirty="0"/>
              <a:t>    decimal total = 0;</a:t>
            </a:r>
          </a:p>
          <a:p>
            <a:endParaRPr lang="en-US" sz="1800" dirty="0"/>
          </a:p>
          <a:p>
            <a:pPr marL="0" indent="0">
              <a:buNone/>
            </a:pPr>
            <a:endParaRPr lang="en-US" sz="1800" dirty="0"/>
          </a:p>
        </p:txBody>
      </p:sp>
      <p:sp>
        <p:nvSpPr>
          <p:cNvPr id="4" name="TextBox 3">
            <a:extLst>
              <a:ext uri="{FF2B5EF4-FFF2-40B4-BE49-F238E27FC236}">
                <a16:creationId xmlns:a16="http://schemas.microsoft.com/office/drawing/2014/main" id="{438D708B-50AD-45CC-6E42-50B09D73B1F8}"/>
              </a:ext>
            </a:extLst>
          </p:cNvPr>
          <p:cNvSpPr txBox="1"/>
          <p:nvPr/>
        </p:nvSpPr>
        <p:spPr>
          <a:xfrm>
            <a:off x="5903976" y="2080030"/>
            <a:ext cx="5310428" cy="4247317"/>
          </a:xfrm>
          <a:prstGeom prst="rect">
            <a:avLst/>
          </a:prstGeom>
          <a:noFill/>
        </p:spPr>
        <p:txBody>
          <a:bodyPr wrap="none" rtlCol="0">
            <a:spAutoFit/>
          </a:bodyPr>
          <a:lstStyle/>
          <a:p>
            <a:r>
              <a:rPr lang="en-US" dirty="0"/>
              <a:t> switch (cmbCar1Period.SelectedIndex)</a:t>
            </a:r>
          </a:p>
          <a:p>
            <a:r>
              <a:rPr lang="en-US" dirty="0"/>
              <a:t>    {</a:t>
            </a:r>
          </a:p>
          <a:p>
            <a:r>
              <a:rPr lang="en-US" dirty="0"/>
              <a:t>        case 0:</a:t>
            </a:r>
          </a:p>
          <a:p>
            <a:r>
              <a:rPr lang="en-US" dirty="0"/>
              <a:t>            total = car1DayPrice;</a:t>
            </a:r>
          </a:p>
          <a:p>
            <a:r>
              <a:rPr lang="en-US" dirty="0"/>
              <a:t>            break;</a:t>
            </a:r>
          </a:p>
          <a:p>
            <a:r>
              <a:rPr lang="en-US" dirty="0"/>
              <a:t>        case 1:</a:t>
            </a:r>
          </a:p>
          <a:p>
            <a:r>
              <a:rPr lang="en-US" dirty="0"/>
              <a:t>            total = car1WeekPrice;</a:t>
            </a:r>
          </a:p>
          <a:p>
            <a:r>
              <a:rPr lang="en-US" dirty="0"/>
              <a:t>            break;</a:t>
            </a:r>
          </a:p>
          <a:p>
            <a:r>
              <a:rPr lang="en-US" dirty="0"/>
              <a:t>        case 2:</a:t>
            </a:r>
          </a:p>
          <a:p>
            <a:r>
              <a:rPr lang="en-US" dirty="0"/>
              <a:t>            total = car1MonthPrice;</a:t>
            </a:r>
          </a:p>
          <a:p>
            <a:r>
              <a:rPr lang="en-US" dirty="0"/>
              <a:t>            break;</a:t>
            </a:r>
          </a:p>
          <a:p>
            <a:r>
              <a:rPr lang="en-US" dirty="0"/>
              <a:t>    }</a:t>
            </a:r>
          </a:p>
          <a:p>
            <a:endParaRPr lang="en-US" dirty="0"/>
          </a:p>
          <a:p>
            <a:r>
              <a:rPr lang="en-US" dirty="0"/>
              <a:t>    lblCar1Total.Text = "Total: " + </a:t>
            </a:r>
            <a:r>
              <a:rPr lang="en-US" dirty="0" err="1"/>
              <a:t>total.ToString</a:t>
            </a:r>
            <a:r>
              <a:rPr lang="en-US" dirty="0"/>
              <a:t>("0.00");</a:t>
            </a:r>
          </a:p>
          <a:p>
            <a:r>
              <a:rPr lang="en-US" dirty="0"/>
              <a:t>}</a:t>
            </a:r>
          </a:p>
        </p:txBody>
      </p:sp>
    </p:spTree>
    <p:extLst>
      <p:ext uri="{BB962C8B-B14F-4D97-AF65-F5344CB8AC3E}">
        <p14:creationId xmlns:p14="http://schemas.microsoft.com/office/powerpoint/2010/main" val="2333285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5AE7-265A-A499-C3BB-42CE58BBB9F6}"/>
              </a:ext>
            </a:extLst>
          </p:cNvPr>
          <p:cNvSpPr>
            <a:spLocks noGrp="1"/>
          </p:cNvSpPr>
          <p:nvPr>
            <p:ph type="title"/>
          </p:nvPr>
        </p:nvSpPr>
        <p:spPr/>
        <p:txBody>
          <a:bodyPr/>
          <a:lstStyle/>
          <a:p>
            <a:r>
              <a:rPr lang="en-US" dirty="0"/>
              <a:t>So basically..</a:t>
            </a:r>
          </a:p>
        </p:txBody>
      </p:sp>
      <p:sp>
        <p:nvSpPr>
          <p:cNvPr id="3" name="Content Placeholder 2">
            <a:extLst>
              <a:ext uri="{FF2B5EF4-FFF2-40B4-BE49-F238E27FC236}">
                <a16:creationId xmlns:a16="http://schemas.microsoft.com/office/drawing/2014/main" id="{AC3824E6-157C-63EB-8927-FAEBC1D2953E}"/>
              </a:ext>
            </a:extLst>
          </p:cNvPr>
          <p:cNvSpPr>
            <a:spLocks noGrp="1"/>
          </p:cNvSpPr>
          <p:nvPr>
            <p:ph idx="1"/>
          </p:nvPr>
        </p:nvSpPr>
        <p:spPr>
          <a:xfrm>
            <a:off x="838200" y="2141537"/>
            <a:ext cx="10515600" cy="4351338"/>
          </a:xfrm>
        </p:spPr>
        <p:txBody>
          <a:bodyPr/>
          <a:lstStyle/>
          <a:p>
            <a:r>
              <a:rPr lang="en-US" dirty="0"/>
              <a:t>This form is responsible for displaying car information, handling user interactions, calculating rental prices based on user selection, and retrieving data from the database. The logic is clearly organized into methods for availability checking, price calculation, and data loading.”</a:t>
            </a:r>
          </a:p>
        </p:txBody>
      </p:sp>
    </p:spTree>
    <p:extLst>
      <p:ext uri="{BB962C8B-B14F-4D97-AF65-F5344CB8AC3E}">
        <p14:creationId xmlns:p14="http://schemas.microsoft.com/office/powerpoint/2010/main" val="761696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81F3C-C52F-902F-398D-91CD4C759535}"/>
              </a:ext>
            </a:extLst>
          </p:cNvPr>
          <p:cNvSpPr>
            <a:spLocks noGrp="1"/>
          </p:cNvSpPr>
          <p:nvPr>
            <p:ph type="title"/>
          </p:nvPr>
        </p:nvSpPr>
        <p:spPr/>
        <p:txBody>
          <a:bodyPr/>
          <a:lstStyle/>
          <a:p>
            <a:r>
              <a:rPr lang="en-US" dirty="0"/>
              <a:t>And that concludes our presentation.</a:t>
            </a:r>
          </a:p>
        </p:txBody>
      </p:sp>
      <p:sp>
        <p:nvSpPr>
          <p:cNvPr id="3" name="Content Placeholder 2">
            <a:extLst>
              <a:ext uri="{FF2B5EF4-FFF2-40B4-BE49-F238E27FC236}">
                <a16:creationId xmlns:a16="http://schemas.microsoft.com/office/drawing/2014/main" id="{2AE27B7E-E9A5-4B0B-F457-9D176F695DE9}"/>
              </a:ext>
            </a:extLst>
          </p:cNvPr>
          <p:cNvSpPr>
            <a:spLocks noGrp="1"/>
          </p:cNvSpPr>
          <p:nvPr>
            <p:ph idx="1"/>
          </p:nvPr>
        </p:nvSpPr>
        <p:spPr>
          <a:xfrm>
            <a:off x="838200" y="2141537"/>
            <a:ext cx="10515600" cy="4351338"/>
          </a:xfrm>
        </p:spPr>
        <p:txBody>
          <a:bodyPr/>
          <a:lstStyle/>
          <a:p>
            <a:r>
              <a:rPr lang="en-US" dirty="0"/>
              <a:t>Thanks for listening!</a:t>
            </a:r>
          </a:p>
        </p:txBody>
      </p:sp>
    </p:spTree>
    <p:extLst>
      <p:ext uri="{BB962C8B-B14F-4D97-AF65-F5344CB8AC3E}">
        <p14:creationId xmlns:p14="http://schemas.microsoft.com/office/powerpoint/2010/main" val="1546949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147</TotalTime>
  <Words>1069</Words>
  <Application>Microsoft Office PowerPoint</Application>
  <PresentationFormat>Widescreen</PresentationFormat>
  <Paragraphs>195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Car Rental System</vt:lpstr>
      <vt:lpstr>What is our project about?</vt:lpstr>
      <vt:lpstr>Homepage form</vt:lpstr>
      <vt:lpstr>Cars form</vt:lpstr>
      <vt:lpstr>Period choosing and price display</vt:lpstr>
      <vt:lpstr>Car availability checking and program response</vt:lpstr>
      <vt:lpstr>Design and layout : Form 1</vt:lpstr>
      <vt:lpstr>Design and layout : Form 2</vt:lpstr>
      <vt:lpstr>Database query 1:</vt:lpstr>
      <vt:lpstr>Database query 2:</vt:lpstr>
      <vt:lpstr>Database table </vt:lpstr>
      <vt:lpstr>Form 1 coding:</vt:lpstr>
      <vt:lpstr>Form 2 coding:</vt:lpstr>
      <vt:lpstr>PowerPoint Presentation</vt:lpstr>
      <vt:lpstr>PowerPoint Presentation</vt:lpstr>
      <vt:lpstr>PowerPoint Presentation</vt:lpstr>
      <vt:lpstr>PowerPoint Presentation</vt:lpstr>
      <vt:lpstr>PowerPoint Presentation</vt:lpstr>
      <vt:lpstr>So basically..</vt:lpstr>
      <vt:lpstr>And that concludes our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Eyad nizar</dc:creator>
  <cp:lastModifiedBy>Eyad nizar</cp:lastModifiedBy>
  <cp:revision>5</cp:revision>
  <dcterms:created xsi:type="dcterms:W3CDTF">2025-12-17T17:22:08Z</dcterms:created>
  <dcterms:modified xsi:type="dcterms:W3CDTF">2025-12-18T17:52:03Z</dcterms:modified>
</cp:coreProperties>
</file>